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62100" y="1333500"/>
            <a:ext cx="8267493" cy="17621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65"/>
              </a:lnSpc>
              <a:spcBef>
                <a:spcPts val="0"/>
              </a:spcBef>
              <a:spcAft>
                <a:spcPts val="1950"/>
              </a:spcAft>
            </a:pPr>
            <a:r>
              <a:rPr sz="3348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Automated Meter Reading System</a:t>
            </a:r>
            <a:r>
              <a:rPr sz="1104"/>
              <a:t>
</a:t>
            </a:r>
            <a:r>
              <a:rPr sz="3348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with Automatic ROI Detection &amp;</a:t>
            </a:r>
            <a:r>
              <a:rPr sz="1104"/>
              <a:t>
</a:t>
            </a:r>
            <a:r>
              <a:rPr sz="3348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Socket-Based Distributed Inference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4857" y="3371850"/>
            <a:ext cx="761980" cy="28575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62100" y="3781424"/>
            <a:ext cx="82674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Following the LBC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104" y="5153024"/>
            <a:ext cx="571485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1845" y="5334000"/>
            <a:ext cx="38480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Master's in Business Intelligence &amp; Big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390650"/>
            <a:ext cx="514337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L-Axis •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714500"/>
            <a:ext cx="514337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2600"/>
              </a:spcAft>
            </a:pPr>
            <a:r>
              <a:rPr sz="2392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The Baseline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552700"/>
            <a:ext cx="5143371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82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Original baseline (jomjol AI-on-the-Edge-Device) required </a:t>
            </a:r>
            <a:r>
              <a:rPr sz="1196" b="1">
                <a:solidFill>
                  <a:srgbClr val="1C1917"/>
                </a:solidFill>
                <a:latin typeface="Inter"/>
                <a:rFonts ascii="Inter" hAnsi="Inter" eastAsia="Inter" cs="Inter"/>
              </a:rPr>
              <a:t>manual ROI selection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via a web interface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647949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3390899"/>
            <a:ext cx="5143371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82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Any camera shift necessitates complete manual recalibration of digit strip boundaries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486150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33" y="4229100"/>
            <a:ext cx="5143371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82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Creates a significant </a:t>
            </a:r>
            <a:r>
              <a:rPr sz="1196" b="1">
                <a:solidFill>
                  <a:srgbClr val="1C1917"/>
                </a:solidFill>
                <a:latin typeface="Inter"/>
                <a:rFonts ascii="Inter" hAnsi="Inter" eastAsia="Inter" cs="Inter"/>
              </a:rPr>
              <a:t>deployment bottleneck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for real-world edge installations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324349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33" y="5448300"/>
            <a:ext cx="571485" cy="1905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81590" y="1276350"/>
            <a:ext cx="5143371" cy="4305300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3236" y="2733674"/>
            <a:ext cx="800079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040"/>
              </a:spcAft>
            </a:pPr>
            <a:r>
              <a:rPr sz="1913" b="0">
                <a:solidFill>
                  <a:srgbClr val="A8A29E"/>
                </a:solidFill>
                <a:latin typeface="Inter"/>
                <a:rFonts ascii="Inter" hAnsi="Inter" eastAsia="Inter" cs="Inter"/>
              </a:rP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4581" y="3686175"/>
            <a:ext cx="244786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jomjol roi 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4581" y="3962399"/>
            <a:ext cx="2447863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A8A29E"/>
                </a:solidFill>
                <a:latin typeface="Inter"/>
                <a:rFonts ascii="Inter" hAnsi="Inter" eastAsia="Inter" cs="Inter"/>
              </a:rPr>
              <a:t>Manual Web UI Configuration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333500"/>
            <a:ext cx="5048123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B-Axis • Business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657350"/>
            <a:ext cx="504812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2600"/>
              </a:spcAft>
            </a:pPr>
            <a:r>
              <a:rPr sz="2392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The Scalability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495550"/>
            <a:ext cx="5048123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Utility companies cannot afford </a:t>
            </a:r>
            <a:r>
              <a:rPr sz="1196" b="1">
                <a:solidFill>
                  <a:srgbClr val="1C1917"/>
                </a:solidFill>
                <a:latin typeface="Inter"/>
                <a:rFonts ascii="Inter" hAnsi="Inter" eastAsia="Inter" cs="Inter"/>
              </a:rPr>
              <a:t>human intervention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for hundreds of thousands of installed meters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590799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3371850"/>
            <a:ext cx="5048123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Large deployments require </a:t>
            </a:r>
            <a:r>
              <a:rPr sz="1196" b="1">
                <a:solidFill>
                  <a:srgbClr val="1C1917"/>
                </a:solidFill>
                <a:latin typeface="Inter"/>
                <a:rFonts ascii="Inter" hAnsi="Inter" eastAsia="Inter" cs="Inter"/>
              </a:rPr>
              <a:t>autonomy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, low maintenance, and robustness to small camera shifts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4671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33" y="4248150"/>
            <a:ext cx="5048123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Core need: </a:t>
            </a:r>
            <a:r>
              <a:rPr sz="1196" b="1">
                <a:solidFill>
                  <a:srgbClr val="1C1917"/>
                </a:solidFill>
                <a:latin typeface="Inter"/>
                <a:rFonts ascii="Inter" hAnsi="Inter" eastAsia="Inter" cs="Inter"/>
              </a:rPr>
              <a:t>eliminate manual UI configuration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and create a fully autonomous reading pipeline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3434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33" y="5505450"/>
            <a:ext cx="571485" cy="1905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6838" y="1857375"/>
            <a:ext cx="5048123" cy="31432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67353" y="2247899"/>
            <a:ext cx="4267093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520"/>
              </a:spcAft>
            </a:pPr>
            <a:r>
              <a:rPr sz="5740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100k+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353" y="3238500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56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Meters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3116" y="4086225"/>
            <a:ext cx="933426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"/>
              </a:spcAft>
            </a:pPr>
            <a:r>
              <a:rPr sz="1674" b="0">
                <a:solidFill>
                  <a:srgbClr val="1C1917"/>
                </a:solidFill>
                <a:latin typeface="Inter"/>
                <a:rFonts ascii="Inter" hAnsi="Inter" eastAsia="Inter" cs="Inter"/>
              </a:rPr>
              <a:t>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3116" y="4448175"/>
            <a:ext cx="93342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Current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8068" y="4086225"/>
            <a:ext cx="140013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"/>
              </a:spcAft>
            </a:pPr>
            <a:r>
              <a:rPr sz="1674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68" y="4448175"/>
            <a:ext cx="140013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666750"/>
            <a:ext cx="1085822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C-Axis •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42975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Distributed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876424"/>
            <a:ext cx="4190895" cy="3971925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7248" y="2266950"/>
            <a:ext cx="34098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Machine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48" y="2647949"/>
            <a:ext cx="340986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08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Client • Edge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48" y="3324225"/>
            <a:ext cx="340986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Captures raw meter image from camera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7248" y="3400425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248" y="3743325"/>
            <a:ext cx="340986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Runs </a:t>
            </a:r>
            <a:r>
              <a:rPr sz="95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YOLOv8n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for automatic ROI extraction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7248" y="3819524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7248" y="4162424"/>
            <a:ext cx="3409864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Crops digit region and converts to image bytes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248" y="4238624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248" y="4810124"/>
            <a:ext cx="340986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Sends cropped image data via TCP socket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7248" y="4886325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6322" y="2324100"/>
            <a:ext cx="19049" cy="952499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62460" y="3752849"/>
            <a:ext cx="1066773" cy="495299"/>
          </a:xfrm>
          <a:prstGeom prst="roundRect">
            <a:avLst>
              <a:gd name="adj" fmla="val 15384"/>
            </a:avLst>
          </a:prstGeom>
          <a:solidFill>
            <a:srgbClr val="F9F8F6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2460" y="3752849"/>
            <a:ext cx="1066773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837" b="0">
                <a:solidFill>
                  <a:srgbClr val="1C1917"/>
                </a:solidFill>
                <a:latin typeface="Inter"/>
                <a:rFonts ascii="Inter" hAnsi="Inter" eastAsia="Inter" cs="Inter"/>
              </a:rPr>
              <a:t>TCP Socket</a:t>
            </a:r>
            <a:r>
              <a:rPr sz="1104"/>
              <a:t>
</a:t>
            </a:r>
            <a:r>
              <a:rPr sz="837" b="0">
                <a:solidFill>
                  <a:srgbClr val="1C1917"/>
                </a:solidFill>
                <a:latin typeface="Inter"/>
                <a:rFonts ascii="Inter" hAnsi="Inter" eastAsia="Inter" cs="Inter"/>
              </a:rPr>
              <a:t>Connection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6322" y="4438649"/>
            <a:ext cx="19049" cy="952499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34066" y="1876424"/>
            <a:ext cx="4190895" cy="3971925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4581" y="2266950"/>
            <a:ext cx="34098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Machine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4581" y="2647949"/>
            <a:ext cx="340986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08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Server • Inference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4581" y="3324225"/>
            <a:ext cx="340986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Receives cropped image bytes from client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4581" y="3400425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4581" y="3743325"/>
            <a:ext cx="340986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Applies </a:t>
            </a:r>
            <a:r>
              <a:rPr sz="95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OpenCV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for digit segmentation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4581" y="3819524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4581" y="4162424"/>
            <a:ext cx="3409864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Runs </a:t>
            </a:r>
            <a:r>
              <a:rPr sz="95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Custom CNN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classifier on individual digits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4581" y="4238624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4581" y="4810124"/>
            <a:ext cx="3409864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Reconstructs and outputs final meter reading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4581" y="4886325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6733" y="6229350"/>
            <a:ext cx="10858228" cy="609600"/>
          </a:xfrm>
          <a:prstGeom prst="rect">
            <a:avLst/>
          </a:prstGeom>
          <a:solidFill>
            <a:srgbClr val="D95D3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411463" y="6484620"/>
            <a:ext cx="609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33" y="6229350"/>
            <a:ext cx="10858228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0"/>
              </a:spcBef>
              <a:spcAft>
                <a:spcPts val="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Design Principle: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Separates lightweight image acquisition from heavier inference logic for scalable, edge-compatible deployment.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666750"/>
            <a:ext cx="1085822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C-Axis • Component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42975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YOLO Detection &amp; CNN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781174"/>
            <a:ext cx="5238619" cy="4867274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050" y="2095499"/>
            <a:ext cx="460998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674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YOLOv8n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2524125"/>
            <a:ext cx="460998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Region of Interest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1050" y="2914650"/>
            <a:ext cx="2209744" cy="885825"/>
          </a:xfrm>
          <a:prstGeom prst="roundRect">
            <a:avLst>
              <a:gd name="adj" fmla="val 12903"/>
            </a:avLst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446" y="3067050"/>
            <a:ext cx="190495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46" y="3486150"/>
            <a:ext cx="190495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ROI Detection Success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290" y="2914650"/>
            <a:ext cx="2209744" cy="885825"/>
          </a:xfrm>
          <a:prstGeom prst="roundRect">
            <a:avLst>
              <a:gd name="adj" fmla="val 12903"/>
            </a:avLst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3686" y="3067050"/>
            <a:ext cx="190495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99.34%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3686" y="3486150"/>
            <a:ext cx="190495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mAP@50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050" y="4029075"/>
            <a:ext cx="4609984" cy="2305049"/>
          </a:xfrm>
          <a:prstGeom prst="roundRect">
            <a:avLst>
              <a:gd name="adj" fmla="val 4958"/>
            </a:avLst>
          </a:prstGeom>
          <a:solidFill>
            <a:srgbClr val="F9F8F6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319" y="4543425"/>
            <a:ext cx="171445" cy="561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2870" b="0">
                <a:solidFill>
                  <a:srgbClr val="E7E5E4"/>
                </a:solidFill>
                <a:latin typeface="Inter"/>
                <a:rFonts ascii="Inter" hAnsi="Inter" eastAsia="Inter" cs="Inter"/>
              </a:rP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6438" y="5219700"/>
            <a:ext cx="1619209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yolo crop.png</a:t>
            </a:r>
            <a:r>
              <a:rPr sz="1104"/>
              <a:t>
</a:t>
            </a: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 YOLO Bounding Box Crop</a:t>
            </a:r>
            <a:r>
              <a:rPr sz="1104"/>
              <a:t>
</a:t>
            </a: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 on Test Image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1781174"/>
            <a:ext cx="5238619" cy="4867274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659" y="2095499"/>
            <a:ext cx="460998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674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Custom 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659" y="2524125"/>
            <a:ext cx="460998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Digit Classification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0659" y="2914650"/>
            <a:ext cx="2209744" cy="885825"/>
          </a:xfrm>
          <a:prstGeom prst="roundRect">
            <a:avLst>
              <a:gd name="adj" fmla="val 12903"/>
            </a:avLst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3056" y="3067050"/>
            <a:ext cx="190495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99.00%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056" y="3486150"/>
            <a:ext cx="190495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Test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0899" y="2914650"/>
            <a:ext cx="2209744" cy="885825"/>
          </a:xfrm>
          <a:prstGeom prst="roundRect">
            <a:avLst>
              <a:gd name="adj" fmla="val 12903"/>
            </a:avLst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296" y="3067050"/>
            <a:ext cx="190495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9,960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296" y="3486150"/>
            <a:ext cx="190495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Total Digit Crops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0659" y="4029075"/>
            <a:ext cx="4609984" cy="2305049"/>
          </a:xfrm>
          <a:prstGeom prst="roundRect">
            <a:avLst>
              <a:gd name="adj" fmla="val 4958"/>
            </a:avLst>
          </a:prstGeom>
          <a:solidFill>
            <a:srgbClr val="F9F8F6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19929" y="4543425"/>
            <a:ext cx="171445" cy="561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2870" b="0">
                <a:solidFill>
                  <a:srgbClr val="E7E5E4"/>
                </a:solidFill>
                <a:latin typeface="Inter"/>
                <a:rFonts ascii="Inter" hAnsi="Inter" eastAsia="Inter" cs="Inter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4641" y="5219700"/>
            <a:ext cx="116202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cnn detection.png</a:t>
            </a:r>
            <a:r>
              <a:rPr sz="1104"/>
              <a:t>
</a:t>
            </a: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 CNN Debug Panel</a:t>
            </a:r>
            <a:r>
              <a:rPr sz="1104"/>
              <a:t>
</a:t>
            </a: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 Reading: "05866"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666750"/>
            <a:ext cx="1085822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State of the Art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42975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Positioning Against Existing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876424"/>
            <a:ext cx="10858228" cy="3686175"/>
          </a:xfrm>
          <a:prstGeom prst="roundRect">
            <a:avLst>
              <a:gd name="adj" fmla="val 4134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33" y="5848350"/>
            <a:ext cx="10858228" cy="609600"/>
          </a:xfrm>
          <a:prstGeom prst="rect">
            <a:avLst/>
          </a:prstGeom>
          <a:solidFill>
            <a:srgbClr val="D95D3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411463" y="6103620"/>
            <a:ext cx="609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33" y="5848350"/>
            <a:ext cx="10858228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950"/>
              </a:spcBef>
              <a:spcAft>
                <a:spcPts val="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Key Positioning: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Bridges the gap by combining high autonomy with high scalability through distributed socket-based inference.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666750"/>
            <a:ext cx="519099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Pipeline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42975"/>
            <a:ext cx="519099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End-to-End Results &amp; Error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2143125"/>
            <a:ext cx="5190995" cy="1247775"/>
          </a:xfrm>
          <a:prstGeom prst="roundRect">
            <a:avLst>
              <a:gd name="adj" fmla="val 12213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2381250"/>
            <a:ext cx="146681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72.00%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5962" y="2647949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Exact Full-Reading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952750"/>
            <a:ext cx="471475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On 50 local test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543300"/>
            <a:ext cx="5190995" cy="1047749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52" y="3781424"/>
            <a:ext cx="148586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76.00%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012" y="4048124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Correct Text-Length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33" y="5029200"/>
            <a:ext cx="519099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196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33" y="5438774"/>
            <a:ext cx="5190995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780"/>
              </a:spcAft>
            </a:pP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Deterministic OpenCV under-segmentation</a:t>
            </a: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5514975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33" y="5772150"/>
            <a:ext cx="5190995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780"/>
              </a:spcAft>
            </a:pP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Glare and reflections erase visible gaps between digits</a:t>
            </a:r>
            <a:r>
              <a:rPr sz="89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5848350"/>
            <a:ext cx="57148" cy="571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3966" y="1066799"/>
            <a:ext cx="5190995" cy="4724399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2085" y="1304925"/>
            <a:ext cx="47147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Segmentation Failure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085" y="1609724"/>
            <a:ext cx="4714757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Deterministic OpenCV under-segmentation due to glare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72085" y="1924049"/>
            <a:ext cx="4733806" cy="2686050"/>
          </a:xfrm>
          <a:prstGeom prst="roundRect">
            <a:avLst>
              <a:gd name="adj" fmla="val 4255"/>
            </a:avLst>
          </a:prstGeom>
          <a:solidFill>
            <a:srgbClr val="F9F8F6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8028" y="2847974"/>
            <a:ext cx="171445" cy="561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2870" b="0">
                <a:solidFill>
                  <a:srgbClr val="E7E5E4"/>
                </a:solidFill>
                <a:latin typeface="Inter"/>
                <a:rFonts ascii="Inter" hAnsi="Inter" eastAsia="Inter" cs="Inter"/>
              </a:rPr>
              <a:t>🖼️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186" y="3524250"/>
            <a:ext cx="80960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cnn error.jpg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2085" y="4762500"/>
            <a:ext cx="4714757" cy="790574"/>
          </a:xfrm>
          <a:prstGeom prst="roundRect">
            <a:avLst>
              <a:gd name="adj" fmla="val 14457"/>
            </a:avLst>
          </a:prstGeom>
          <a:solidFill>
            <a:srgbClr val="D95D3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4481" y="4914900"/>
            <a:ext cx="2114497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Actual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481" y="5095874"/>
            <a:ext cx="211449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21931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474" y="4914900"/>
            <a:ext cx="2114497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Predicted Reading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9474" y="5095874"/>
            <a:ext cx="211449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666750"/>
            <a:ext cx="514337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837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Final Remarks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42975"/>
            <a:ext cx="514337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781174"/>
            <a:ext cx="5143371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82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Fully removes the </a:t>
            </a:r>
            <a:r>
              <a:rPr sz="119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manual ROI bottleneck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found in legacy edge workflows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95474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2619374"/>
            <a:ext cx="5143371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82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Achieves strong component-level performance: </a:t>
            </a:r>
            <a:r>
              <a:rPr sz="119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100% ROI detection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and </a:t>
            </a:r>
            <a:r>
              <a:rPr sz="119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99.00% digit classification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733674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33" y="3457575"/>
            <a:ext cx="5143371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82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Distributed socket-based design enables </a:t>
            </a:r>
            <a:r>
              <a:rPr sz="119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scalable deployment</a:t>
            </a: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571875"/>
            <a:ext cx="76198" cy="762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33" y="4600575"/>
            <a:ext cx="5143371" cy="1238249"/>
          </a:xfrm>
          <a:prstGeom prst="rect">
            <a:avLst/>
          </a:prstGeom>
          <a:solidFill>
            <a:srgbClr val="D95D3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97139" y="5170169"/>
            <a:ext cx="12382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901" y="4791075"/>
            <a:ext cx="46576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01" y="5133975"/>
            <a:ext cx="4657608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Segmentation robustness remains challenging under difficult lighting conditions and glare.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1590" y="666750"/>
            <a:ext cx="5143371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5907" y="981074"/>
            <a:ext cx="4514737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780"/>
              </a:spcAft>
            </a:pPr>
            <a:r>
              <a:rPr sz="2870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5907" y="1552574"/>
            <a:ext cx="45147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ROI Detection Success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1590" y="2247899"/>
            <a:ext cx="5143371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5907" y="2562224"/>
            <a:ext cx="4514737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780"/>
              </a:spcAft>
            </a:pPr>
            <a:r>
              <a:rPr sz="2870" b="1">
                <a:solidFill>
                  <a:srgbClr val="D95D39"/>
                </a:solidFill>
                <a:latin typeface="Playfair Display"/>
                <a:rFonts ascii="Playfair Display" hAnsi="Playfair Display" eastAsia="Playfair Display" cs="Playfair Display"/>
              </a:rPr>
              <a:t>99.00%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5907" y="3133724"/>
            <a:ext cx="45147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Digit Classification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1590" y="3829050"/>
            <a:ext cx="5143371" cy="2362199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825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9709" y="4067174"/>
            <a:ext cx="466713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196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709" y="4476750"/>
            <a:ext cx="4667133" cy="3809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07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→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Move from deterministic segmentation to sequence-based OCR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709" y="4972050"/>
            <a:ext cx="4667133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07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→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Explore end-to-end recognition models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709" y="5295899"/>
            <a:ext cx="4667133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1076" b="0">
                <a:solidFill>
                  <a:srgbClr val="D95D39"/>
                </a:solidFill>
                <a:latin typeface="Inter"/>
                <a:rFonts ascii="Inter" hAnsi="Inter" eastAsia="Inter" cs="Inter"/>
              </a:rPr>
              <a:t>→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Improve robustness to lighting variations</a:t>
            </a:r>
            <a:r>
              <a:rPr sz="95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43331" y="1714500"/>
            <a:ext cx="2714557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7176" b="0">
                <a:solidFill>
                  <a:srgbClr val="1C1917"/>
                </a:solidFill>
                <a:latin typeface="Playfair Display"/>
                <a:rFonts ascii="Playfair Display" hAnsi="Playfair Display" eastAsia="Playfair Display" cs="Playfair Display"/>
              </a:rP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4857" y="3619499"/>
            <a:ext cx="761980" cy="1905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43331" y="4019549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196" b="0">
                <a:solidFill>
                  <a:srgbClr val="57534E"/>
                </a:solidFill>
                <a:latin typeface="Inter"/>
                <a:rFonts ascii="Inter" hAnsi="Inter" eastAsia="Inter" cs="Inter"/>
              </a:rP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3331" y="4819650"/>
            <a:ext cx="271455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78716C"/>
                </a:solidFill>
                <a:latin typeface="Inter"/>
                <a:rFonts ascii="Inter" hAnsi="Inter" eastAsia="Inter" cs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