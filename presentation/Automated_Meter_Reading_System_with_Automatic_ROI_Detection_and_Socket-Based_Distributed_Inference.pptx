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[Your Name], and today I'll present my Master's project in Business Intelligence and Big Data Analytics. We've developed an Automated Meter Reading system that tackles the critical bottleneck of manual Region of Interest detection. Our approach uses a distributed, socket-based architecture. We'll navigate this presentation using the LBC Matrix—Literature, Business Need, and Contribution—to provide a structured view of our research and its practical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the Literature axis, we identified a significant gap in existing edge-based AMR solutions. The current baseline, like the Jomjol AI-on-the-Edge device, requires a human operator to manually select the Region of Interest. This isn't just a setup inconvenience; it's a scalability killer. If a camera shifts even slightly, the entire reading pipeline fails until a human manually recalibrates it. This creates a massive deployment bottleneck for real-world utility installations. So, this manual step prevents transition from hobbyist projects to large-scale industrial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the Business Need, the motivation is clear: scalability. Utility companies manage hundreds of thousands of meters. A system that requires even five minutes of manual UI configuration per meter is economically unviable at scale. The business requirement is a fully autonomous pipeline that can handle small camera shifts without intervention. By automating the ROI detection, we move from a high-maintenance hobbyist tool to a robust industrial solution. This significantly reduces operational overhead and enables massive, low-cost deployments. This transforms the AMR pipeline from a supervised setup to a fully autonomous, self-correcting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Contribution is a distributed architecture that bridges the gap between edge capture and powerful inference. We use a two-machine setup connected via TCP sockets. Machine A, the client, captures images and runs a lightweight YOLOv8n model for real-time ROI extraction. This cropped image is then sent to Machine B, the server. The server handles the more computationally intensive tasks: OpenCV-based segmentation and CNN-based digit classification. This separation of concerns allows for a responsive system that doesn't overtax edge hardware while maintaining high-fidelity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our contribution, we rigorously tested each component. The YOLOv8n model achieved a perfect 100% success rate in detecting the ROI across our test images. It showed a mean Average Precision of 99.34%. For digit classification, we trained a custom CNN on nearly 10,000 samples. The results were exceptional, reaching 99.00% accuracy on the hold-out test set. We used early stopping to ensure the model was well-generalized. These high component-level metrics provide a solid foundation for the end-to-end pipeline. Next, we'll see how this compares to existing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validating our individual components, we need to understand where our system stands against the state of the art. Our solution carves out a unique niche in the landscape of automated meter reading. We combine fully automatic ROI detection with a distributed edge-server model. This approach bridges the gap between highly autonomous, but resource-heavy, server-side solutions and low-cost, but manually intensive, edge devices. It offers a practical, scalable middle ground for industrial utility deployments. Now, let's look at how this system performs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our components performed exceptionally well, the real-world end-to-end pipeline presents its own challenges. We achieved a 72% exact match rate for full meter readings, and a 76% accuracy in predicting the correct number of digits. The primary limitation isn't the AI classification itself, but rather the deterministic OpenCV segmentation. Glare and reflections can cause digits to merge, leading to incorrect reconstructions. For example, a five-digit reading might be misinterpreted as two digits. This highlights that while we've solved the ROI problem, robust segmentation in varied lighting is the next critical hurdle. This brings us to our conclusions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successfully eliminates the manual ROI bottleneck that has limited the scalability of edge-based AMR systems. We've demonstrated that a distributed architecture, supported by high-performing YOLO and CNN components, provides a viable path toward autonomous utility monitoring. While segmentation remains a challenge in difficult lighting, the foundation is now firmly in place. Future work will focus on moving away from deterministic segmentation toward end-to-end sequence recognition, further increasing the system's robustness in the field. This concludes my formal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I want to thank you for your time and attention. I am now open to any questions you may have regarding the architecture, the experimental results, or the future directions of this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57200" y="722272"/>
            <a:ext cx="4343400" cy="3520362"/>
          </a:xfrm>
          <a:prstGeom prst="rect">
            <a:avLst/>
          </a:prstGeom>
          <a:noFill/>
          <a:ln/>
        </p:spPr>
        <p:txBody>
          <a:bodyPr wrap="square" lIns="0" tIns="0" rIns="0" bIns="0" rtlCol="0" anchor="t">
            <a:spAutoFit/>
          </a:bodyPr>
          <a:lstStyle/>
          <a:p>
            <a:pPr algn="l" indent="0" marL="0">
              <a:lnSpc>
                <a:spcPts val="4000"/>
              </a:lnSpc>
              <a:buNone/>
            </a:pPr>
            <a:r>
              <a:rPr lang="en-US" sz="3294" b="1" dirty="0">
                <a:solidFill>
                  <a:srgbClr val="1C1917"/>
                </a:solidFill>
                <a:latin typeface="Source Serif Pro" pitchFamily="34" charset="0"/>
                <a:ea typeface="Source Serif Pro" pitchFamily="34" charset="-122"/>
                <a:cs typeface="Source Serif Pro" pitchFamily="34" charset="-120"/>
              </a:rPr>
              <a:t>Automated Meter Reading System with Automatic ROI Detection and Socket-Based Distributed Inference</a:t>
            </a:r>
            <a:endParaRPr lang="en-US" sz="3294" dirty="0"/>
          </a:p>
        </p:txBody>
      </p:sp>
      <p:sp>
        <p:nvSpPr>
          <p:cNvPr id="5" name="Text 1"/>
          <p:cNvSpPr/>
          <p:nvPr/>
        </p:nvSpPr>
        <p:spPr>
          <a:xfrm>
            <a:off x="5029200" y="607972"/>
            <a:ext cx="2571750" cy="1107281"/>
          </a:xfrm>
          <a:prstGeom prst="rect">
            <a:avLst/>
          </a:prstGeom>
          <a:noFill/>
          <a:ln/>
        </p:spPr>
        <p:txBody>
          <a:bodyPr wrap="square" lIns="0" tIns="0" rIns="0" bIns="0" rtlCol="0" anchor="t">
            <a:spAutoFit/>
          </a:bodyPr>
          <a:lstStyle/>
          <a:p>
            <a:pPr algn="l" indent="0" marL="0">
              <a:lnSpc>
                <a:spcPts val="2200"/>
              </a:lnSpc>
              <a:buNone/>
            </a:pPr>
            <a:r>
              <a:rPr lang="en-US" sz="1704" dirty="0">
                <a:solidFill>
                  <a:srgbClr val="44403C"/>
                </a:solidFill>
                <a:latin typeface="Inter" pitchFamily="34" charset="0"/>
                <a:ea typeface="Inter" pitchFamily="34" charset="-122"/>
                <a:cs typeface="Inter" pitchFamily="34" charset="-120"/>
              </a:rPr>
              <a:t>A Master's Thesis Presentation Following the LBC Matrix Framework</a:t>
            </a:r>
            <a:endParaRPr lang="en-US" sz="1704" dirty="0"/>
          </a:p>
        </p:txBody>
      </p:sp>
      <p:sp>
        <p:nvSpPr>
          <p:cNvPr id="6" name="Text 2"/>
          <p:cNvSpPr/>
          <p:nvPr/>
        </p:nvSpPr>
        <p:spPr>
          <a:xfrm>
            <a:off x="5029200" y="1772403"/>
            <a:ext cx="2571750" cy="346472"/>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57534E"/>
                </a:solidFill>
                <a:latin typeface="Inter" pitchFamily="34" charset="0"/>
                <a:ea typeface="Inter" pitchFamily="34" charset="-122"/>
                <a:cs typeface="Inter" pitchFamily="34" charset="-120"/>
              </a:rPr>
              <a:t>Master in Business Intelligence and Big Data Analytics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82867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5D39"/>
                </a:solidFill>
                <a:latin typeface="Inter" pitchFamily="34" charset="0"/>
                <a:ea typeface="Inter" pitchFamily="34" charset="-122"/>
                <a:cs typeface="Inter" pitchFamily="34" charset="-120"/>
              </a:rPr>
              <a:t>L-AXIS: LITERATURE</a:t>
            </a:r>
            <a:endParaRPr lang="en-US" sz="683" dirty="0"/>
          </a:p>
        </p:txBody>
      </p:sp>
      <p:sp>
        <p:nvSpPr>
          <p:cNvPr id="5" name="Text 1"/>
          <p:cNvSpPr/>
          <p:nvPr/>
        </p:nvSpPr>
        <p:spPr>
          <a:xfrm>
            <a:off x="428625" y="834675"/>
            <a:ext cx="8286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C1917"/>
                </a:solidFill>
                <a:latin typeface="Source Serif Pro" pitchFamily="34" charset="0"/>
                <a:ea typeface="Source Serif Pro" pitchFamily="34" charset="-122"/>
                <a:cs typeface="Source Serif Pro" pitchFamily="34" charset="-120"/>
              </a:rPr>
              <a:t>The Manual ROI Bottleneck</a:t>
            </a:r>
            <a:endParaRPr lang="en-US" sz="2436" dirty="0"/>
          </a:p>
        </p:txBody>
      </p:sp>
      <p:sp>
        <p:nvSpPr>
          <p:cNvPr id="6" name="Text 2"/>
          <p:cNvSpPr/>
          <p:nvPr/>
        </p:nvSpPr>
        <p:spPr>
          <a:xfrm>
            <a:off x="428625" y="1676186"/>
            <a:ext cx="400050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The Baseline Problem</a:t>
            </a:r>
            <a:endParaRPr lang="en-US" sz="1193" dirty="0"/>
          </a:p>
        </p:txBody>
      </p:sp>
      <p:sp>
        <p:nvSpPr>
          <p:cNvPr id="7" name="Text 3"/>
          <p:cNvSpPr/>
          <p:nvPr/>
        </p:nvSpPr>
        <p:spPr>
          <a:xfrm>
            <a:off x="428625" y="2011942"/>
            <a:ext cx="400050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Current edge solutions like Jomjol AI-on-the-Edge require manual Region of Interest (ROI) selection via a web UI.</a:t>
            </a:r>
            <a:endParaRPr lang="en-US" sz="942" dirty="0"/>
          </a:p>
        </p:txBody>
      </p:sp>
      <p:sp>
        <p:nvSpPr>
          <p:cNvPr id="8" name="Text 4"/>
          <p:cNvSpPr/>
          <p:nvPr/>
        </p:nvSpPr>
        <p:spPr>
          <a:xfrm>
            <a:off x="428625" y="2594828"/>
            <a:ext cx="400050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Configuration Overhead</a:t>
            </a:r>
            <a:endParaRPr lang="en-US" sz="1193" dirty="0"/>
          </a:p>
        </p:txBody>
      </p:sp>
      <p:sp>
        <p:nvSpPr>
          <p:cNvPr id="9" name="Text 5"/>
          <p:cNvSpPr/>
          <p:nvPr/>
        </p:nvSpPr>
        <p:spPr>
          <a:xfrm>
            <a:off x="428625" y="2930584"/>
            <a:ext cx="400050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Users must manually define digit strip boundaries for every installation, creating a significant setup barrier.</a:t>
            </a:r>
            <a:endParaRPr lang="en-US" sz="942" dirty="0"/>
          </a:p>
        </p:txBody>
      </p:sp>
      <p:sp>
        <p:nvSpPr>
          <p:cNvPr id="10" name="Text 6"/>
          <p:cNvSpPr/>
          <p:nvPr/>
        </p:nvSpPr>
        <p:spPr>
          <a:xfrm>
            <a:off x="428625" y="3513469"/>
            <a:ext cx="400050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Calibration Fragility</a:t>
            </a:r>
            <a:endParaRPr lang="en-US" sz="1193" dirty="0"/>
          </a:p>
        </p:txBody>
      </p:sp>
      <p:sp>
        <p:nvSpPr>
          <p:cNvPr id="11" name="Text 7"/>
          <p:cNvSpPr/>
          <p:nvPr/>
        </p:nvSpPr>
        <p:spPr>
          <a:xfrm>
            <a:off x="428625" y="3849226"/>
            <a:ext cx="400050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Any physical shift in the camera requires manual recalibration, making the system brittle for real-world use.</a:t>
            </a:r>
            <a:endParaRPr lang="en-US" sz="942" dirty="0"/>
          </a:p>
        </p:txBody>
      </p:sp>
      <p:sp>
        <p:nvSpPr>
          <p:cNvPr id="12" name="Shape 8"/>
          <p:cNvSpPr/>
          <p:nvPr/>
        </p:nvSpPr>
        <p:spPr>
          <a:xfrm>
            <a:off x="4993481" y="1504736"/>
            <a:ext cx="3443288" cy="2300288"/>
          </a:xfrm>
          <a:prstGeom prst="rect">
            <a:avLst/>
          </a:prstGeom>
          <a:solidFill>
            <a:srgbClr val="F9F8F6"/>
          </a:solidFill>
          <a:ln w="9144">
            <a:solidFill>
              <a:srgbClr val="E7E5E4"/>
            </a:solidFill>
            <a:prstDash val="solid"/>
          </a:ln>
        </p:spPr>
      </p:sp>
      <p:sp>
        <p:nvSpPr>
          <p:cNvPr id="13" name="Text 9"/>
          <p:cNvSpPr/>
          <p:nvPr/>
        </p:nvSpPr>
        <p:spPr>
          <a:xfrm>
            <a:off x="4993481" y="1504736"/>
            <a:ext cx="3443288" cy="2300288"/>
          </a:xfrm>
          <a:prstGeom prst="rect">
            <a:avLst/>
          </a:prstGeom>
          <a:noFill/>
          <a:ln/>
        </p:spPr>
        <p:txBody>
          <a:bodyPr wrap="square" lIns="0" tIns="0" rIns="0" bIns="0" rtlCol="0" anchor="ctr">
            <a:spAutoFit/>
          </a:bodyPr>
          <a:lstStyle/>
          <a:p>
            <a:pPr algn="ctr" indent="0" marL="0">
              <a:lnSpc>
                <a:spcPts val="1100"/>
              </a:lnSpc>
              <a:buNone/>
            </a:pPr>
            <a:r>
              <a:rPr lang="en-US" sz="834" i="1" dirty="0">
                <a:solidFill>
                  <a:srgbClr val="57534E"/>
                </a:solidFill>
                <a:latin typeface="Inter" pitchFamily="34" charset="0"/>
                <a:ea typeface="Inter" pitchFamily="34" charset="-122"/>
                <a:cs typeface="Inter" pitchFamily="34" charset="-120"/>
              </a:rPr>
              <a:t>[Visual: jomjol roi .png - Manual Web UI Configuration]</a:t>
            </a:r>
            <a:endParaRPr lang="en-US" sz="834" dirty="0"/>
          </a:p>
        </p:txBody>
      </p:sp>
      <p:sp>
        <p:nvSpPr>
          <p:cNvPr id="14" name="Text 10"/>
          <p:cNvSpPr/>
          <p:nvPr/>
        </p:nvSpPr>
        <p:spPr>
          <a:xfrm>
            <a:off x="5173861" y="3876461"/>
            <a:ext cx="3082528" cy="121444"/>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57534E"/>
                </a:solidFill>
                <a:latin typeface="Inter" pitchFamily="34" charset="0"/>
                <a:ea typeface="Inter" pitchFamily="34" charset="-122"/>
                <a:cs typeface="Inter" pitchFamily="34" charset="-120"/>
              </a:rPr>
              <a:t>Figure 1: Manual ROI configuration in the Jomjol baseline system.</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5D39"/>
                </a:solidFill>
                <a:latin typeface="Inter" pitchFamily="34" charset="0"/>
                <a:ea typeface="Inter" pitchFamily="34" charset="-122"/>
                <a:cs typeface="Inter" pitchFamily="34" charset="-120"/>
              </a:rPr>
              <a:t>B-AXIS: BUSINESS NEED</a:t>
            </a:r>
            <a:endParaRPr lang="en-US" sz="683" dirty="0"/>
          </a:p>
        </p:txBody>
      </p:sp>
      <p:sp>
        <p:nvSpPr>
          <p:cNvPr id="5" name="Text 1"/>
          <p:cNvSpPr/>
          <p:nvPr/>
        </p:nvSpPr>
        <p:spPr>
          <a:xfrm>
            <a:off x="571500" y="834675"/>
            <a:ext cx="800100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C1917"/>
                </a:solidFill>
                <a:latin typeface="Source Serif Pro" pitchFamily="34" charset="0"/>
                <a:ea typeface="Source Serif Pro" pitchFamily="34" charset="-122"/>
                <a:cs typeface="Source Serif Pro" pitchFamily="34" charset="-120"/>
              </a:rPr>
              <a:t>The Scalability Problem</a:t>
            </a:r>
            <a:endParaRPr lang="en-US" sz="2436" dirty="0"/>
          </a:p>
        </p:txBody>
      </p:sp>
      <p:sp>
        <p:nvSpPr>
          <p:cNvPr id="6" name="Text 2"/>
          <p:cNvSpPr/>
          <p:nvPr/>
        </p:nvSpPr>
        <p:spPr>
          <a:xfrm>
            <a:off x="721519" y="1783342"/>
            <a:ext cx="227171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C1917"/>
                </a:solidFill>
                <a:latin typeface="Inter" pitchFamily="34" charset="0"/>
                <a:ea typeface="Inter" pitchFamily="34" charset="-122"/>
                <a:cs typeface="Inter" pitchFamily="34" charset="-120"/>
              </a:rPr>
              <a:t>Operational Costs</a:t>
            </a:r>
            <a:endParaRPr lang="en-US" sz="1090" dirty="0"/>
          </a:p>
        </p:txBody>
      </p:sp>
      <p:sp>
        <p:nvSpPr>
          <p:cNvPr id="7" name="Text 3"/>
          <p:cNvSpPr/>
          <p:nvPr/>
        </p:nvSpPr>
        <p:spPr>
          <a:xfrm>
            <a:off x="721519" y="2086952"/>
            <a:ext cx="227171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4403C"/>
                </a:solidFill>
                <a:latin typeface="Inter" pitchFamily="34" charset="0"/>
                <a:ea typeface="Inter" pitchFamily="34" charset="-122"/>
                <a:cs typeface="Inter" pitchFamily="34" charset="-120"/>
              </a:rPr>
              <a:t>Manual interventions can't scale to hundreds of thousands of meters.</a:t>
            </a:r>
            <a:endParaRPr lang="en-US" sz="834" dirty="0"/>
          </a:p>
        </p:txBody>
      </p:sp>
      <p:sp>
        <p:nvSpPr>
          <p:cNvPr id="8" name="Text 4"/>
          <p:cNvSpPr/>
          <p:nvPr/>
        </p:nvSpPr>
        <p:spPr>
          <a:xfrm>
            <a:off x="3436144" y="1783342"/>
            <a:ext cx="227171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C1917"/>
                </a:solidFill>
                <a:latin typeface="Inter" pitchFamily="34" charset="0"/>
                <a:ea typeface="Inter" pitchFamily="34" charset="-122"/>
                <a:cs typeface="Inter" pitchFamily="34" charset="-120"/>
              </a:rPr>
              <a:t>Autonomy Requirement</a:t>
            </a:r>
            <a:endParaRPr lang="en-US" sz="1090" dirty="0"/>
          </a:p>
        </p:txBody>
      </p:sp>
      <p:sp>
        <p:nvSpPr>
          <p:cNvPr id="9" name="Text 5"/>
          <p:cNvSpPr/>
          <p:nvPr/>
        </p:nvSpPr>
        <p:spPr>
          <a:xfrm>
            <a:off x="3436144" y="2086952"/>
            <a:ext cx="2271713" cy="480027"/>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4403C"/>
                </a:solidFill>
                <a:latin typeface="Inter" pitchFamily="34" charset="0"/>
                <a:ea typeface="Inter" pitchFamily="34" charset="-122"/>
                <a:cs typeface="Inter" pitchFamily="34" charset="-120"/>
              </a:rPr>
              <a:t>Deployments need "install and forget" robustness to environment and camera shifts.</a:t>
            </a:r>
            <a:endParaRPr lang="en-US" sz="834" dirty="0"/>
          </a:p>
        </p:txBody>
      </p:sp>
      <p:sp>
        <p:nvSpPr>
          <p:cNvPr id="10" name="Text 6"/>
          <p:cNvSpPr/>
          <p:nvPr/>
        </p:nvSpPr>
        <p:spPr>
          <a:xfrm>
            <a:off x="6150769" y="1783342"/>
            <a:ext cx="227171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C1917"/>
                </a:solidFill>
                <a:latin typeface="Inter" pitchFamily="34" charset="0"/>
                <a:ea typeface="Inter" pitchFamily="34" charset="-122"/>
                <a:cs typeface="Inter" pitchFamily="34" charset="-120"/>
              </a:rPr>
              <a:t>Maintenance Reduction</a:t>
            </a:r>
            <a:endParaRPr lang="en-US" sz="1090" dirty="0"/>
          </a:p>
        </p:txBody>
      </p:sp>
      <p:sp>
        <p:nvSpPr>
          <p:cNvPr id="11" name="Text 7"/>
          <p:cNvSpPr/>
          <p:nvPr/>
        </p:nvSpPr>
        <p:spPr>
          <a:xfrm>
            <a:off x="6150769" y="2086952"/>
            <a:ext cx="227171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4403C"/>
                </a:solidFill>
                <a:latin typeface="Inter" pitchFamily="34" charset="0"/>
                <a:ea typeface="Inter" pitchFamily="34" charset="-122"/>
                <a:cs typeface="Inter" pitchFamily="34" charset="-120"/>
              </a:rPr>
              <a:t>Removing UI configuration cuts TCO and ongoing maintenance.</a:t>
            </a:r>
            <a:endParaRPr lang="en-US" sz="834" dirty="0"/>
          </a:p>
        </p:txBody>
      </p:sp>
      <p:sp>
        <p:nvSpPr>
          <p:cNvPr id="12" name="Shape 8"/>
          <p:cNvSpPr/>
          <p:nvPr/>
        </p:nvSpPr>
        <p:spPr>
          <a:xfrm>
            <a:off x="571500" y="2947774"/>
            <a:ext cx="8001000" cy="1193006"/>
          </a:xfrm>
          <a:prstGeom prst="rect">
            <a:avLst/>
          </a:prstGeom>
          <a:solidFill>
            <a:srgbClr val="FDFBF7"/>
          </a:solidFill>
          <a:ln w="9144">
            <a:solidFill>
              <a:srgbClr val="D95D39"/>
            </a:solidFill>
            <a:prstDash val="solid"/>
          </a:ln>
        </p:spPr>
      </p:sp>
      <p:sp>
        <p:nvSpPr>
          <p:cNvPr id="13" name="Text 9"/>
          <p:cNvSpPr/>
          <p:nvPr/>
        </p:nvSpPr>
        <p:spPr>
          <a:xfrm>
            <a:off x="800100" y="3233524"/>
            <a:ext cx="754380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D95D39"/>
                </a:solidFill>
                <a:latin typeface="Inter" pitchFamily="34" charset="0"/>
                <a:ea typeface="Inter" pitchFamily="34" charset="-122"/>
                <a:cs typeface="Inter" pitchFamily="34" charset="-120"/>
              </a:rPr>
              <a:t>The Core Objective</a:t>
            </a:r>
            <a:endParaRPr lang="en-US" sz="1193" dirty="0"/>
          </a:p>
        </p:txBody>
      </p:sp>
      <p:sp>
        <p:nvSpPr>
          <p:cNvPr id="14" name="Text 10"/>
          <p:cNvSpPr/>
          <p:nvPr/>
        </p:nvSpPr>
        <p:spPr>
          <a:xfrm>
            <a:off x="800100" y="3583567"/>
            <a:ext cx="7543800" cy="400050"/>
          </a:xfrm>
          <a:prstGeom prst="rect">
            <a:avLst/>
          </a:prstGeom>
          <a:noFill/>
          <a:ln/>
        </p:spPr>
        <p:txBody>
          <a:bodyPr wrap="square" lIns="0" tIns="0" rIns="0" bIns="0" rtlCol="0" anchor="t">
            <a:spAutoFit/>
          </a:bodyPr>
          <a:lstStyle/>
          <a:p>
            <a:pPr algn="l" indent="0" marL="0">
              <a:lnSpc>
                <a:spcPts val="1600"/>
              </a:lnSpc>
              <a:buNone/>
            </a:pPr>
            <a:r>
              <a:rPr lang="en-US" sz="1050" dirty="0">
                <a:solidFill>
                  <a:srgbClr val="1C1917"/>
                </a:solidFill>
                <a:latin typeface="Inter" pitchFamily="34" charset="0"/>
                <a:ea typeface="Inter" pitchFamily="34" charset="-122"/>
                <a:cs typeface="Inter" pitchFamily="34" charset="-120"/>
              </a:rPr>
              <a:t>Convert the AMR pipeline into a self-correcting autonomous system that removes manual configuration bottlenecks.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5D39"/>
                </a:solidFill>
                <a:latin typeface="Inter" pitchFamily="34" charset="0"/>
                <a:ea typeface="Inter" pitchFamily="34" charset="-122"/>
                <a:cs typeface="Inter" pitchFamily="34" charset="-120"/>
              </a:rPr>
              <a:t>C-AXIS: CONTRIBUTION</a:t>
            </a:r>
            <a:endParaRPr lang="en-US" sz="683" dirty="0"/>
          </a:p>
        </p:txBody>
      </p:sp>
      <p:sp>
        <p:nvSpPr>
          <p:cNvPr id="5" name="Text 1"/>
          <p:cNvSpPr/>
          <p:nvPr/>
        </p:nvSpPr>
        <p:spPr>
          <a:xfrm>
            <a:off x="571500" y="834675"/>
            <a:ext cx="800100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C1917"/>
                </a:solidFill>
                <a:latin typeface="Source Serif Pro" pitchFamily="34" charset="0"/>
                <a:ea typeface="Source Serif Pro" pitchFamily="34" charset="-122"/>
                <a:cs typeface="Source Serif Pro" pitchFamily="34" charset="-120"/>
              </a:rPr>
              <a:t>Distributed Architecture</a:t>
            </a:r>
            <a:endParaRPr lang="en-US" sz="2436" dirty="0"/>
          </a:p>
        </p:txBody>
      </p:sp>
      <p:sp>
        <p:nvSpPr>
          <p:cNvPr id="6" name="Text 2"/>
          <p:cNvSpPr/>
          <p:nvPr/>
        </p:nvSpPr>
        <p:spPr>
          <a:xfrm>
            <a:off x="571500" y="1819061"/>
            <a:ext cx="882253"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Machine A</a:t>
            </a:r>
            <a:endParaRPr lang="en-US" sz="1193" dirty="0"/>
          </a:p>
        </p:txBody>
      </p:sp>
      <p:sp>
        <p:nvSpPr>
          <p:cNvPr id="7" name="Text 3"/>
          <p:cNvSpPr/>
          <p:nvPr/>
        </p:nvSpPr>
        <p:spPr>
          <a:xfrm>
            <a:off x="1539478" y="1840492"/>
            <a:ext cx="742950"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D95D39"/>
                </a:solidFill>
                <a:latin typeface="Inter" pitchFamily="34" charset="0"/>
                <a:ea typeface="Inter" pitchFamily="34" charset="-122"/>
                <a:cs typeface="Inter" pitchFamily="34" charset="-120"/>
              </a:rPr>
              <a:t>Client / Edge</a:t>
            </a:r>
            <a:endParaRPr lang="en-US" sz="683" dirty="0"/>
          </a:p>
        </p:txBody>
      </p:sp>
      <p:sp>
        <p:nvSpPr>
          <p:cNvPr id="8" name="Text 4"/>
          <p:cNvSpPr/>
          <p:nvPr/>
        </p:nvSpPr>
        <p:spPr>
          <a:xfrm>
            <a:off x="571500" y="2311980"/>
            <a:ext cx="4057650" cy="205718"/>
          </a:xfrm>
          <a:prstGeom prst="rect">
            <a:avLst/>
          </a:prstGeom>
          <a:noFill/>
          <a:ln/>
        </p:spPr>
        <p:txBody>
          <a:bodyPr wrap="none" lIns="170053"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Captures high-resolution meter images.</a:t>
            </a:r>
            <a:endParaRPr lang="en-US" sz="942" dirty="0"/>
          </a:p>
        </p:txBody>
      </p:sp>
      <p:sp>
        <p:nvSpPr>
          <p:cNvPr id="9" name="Text 5"/>
          <p:cNvSpPr/>
          <p:nvPr/>
        </p:nvSpPr>
        <p:spPr>
          <a:xfrm>
            <a:off x="571500" y="2574847"/>
            <a:ext cx="4057650" cy="205718"/>
          </a:xfrm>
          <a:prstGeom prst="rect">
            <a:avLst/>
          </a:prstGeom>
          <a:noFill/>
          <a:ln/>
        </p:spPr>
        <p:txBody>
          <a:bodyPr wrap="none" lIns="170053"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Runs lightweight YOLOv8n for ROI extraction.</a:t>
            </a:r>
            <a:endParaRPr lang="en-US" sz="942" dirty="0"/>
          </a:p>
        </p:txBody>
      </p:sp>
      <p:sp>
        <p:nvSpPr>
          <p:cNvPr id="10" name="Text 6"/>
          <p:cNvSpPr/>
          <p:nvPr/>
        </p:nvSpPr>
        <p:spPr>
          <a:xfrm>
            <a:off x="571500" y="2837715"/>
            <a:ext cx="4057650" cy="205718"/>
          </a:xfrm>
          <a:prstGeom prst="rect">
            <a:avLst/>
          </a:prstGeom>
          <a:noFill/>
          <a:ln/>
        </p:spPr>
        <p:txBody>
          <a:bodyPr wrap="none" lIns="170053"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Transmits cropped image bytes via TCP sockets.</a:t>
            </a:r>
            <a:endParaRPr lang="en-US" sz="942" dirty="0"/>
          </a:p>
        </p:txBody>
      </p:sp>
      <p:sp>
        <p:nvSpPr>
          <p:cNvPr id="11" name="Text 7"/>
          <p:cNvSpPr/>
          <p:nvPr/>
        </p:nvSpPr>
        <p:spPr>
          <a:xfrm>
            <a:off x="571500" y="2311980"/>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D95D39"/>
                </a:solidFill>
                <a:latin typeface="Inter" pitchFamily="34" charset="0"/>
                <a:ea typeface="Inter" pitchFamily="34" charset="-122"/>
                <a:cs typeface="Inter" pitchFamily="34" charset="-120"/>
              </a:rPr>
              <a:t>—</a:t>
            </a:r>
            <a:endParaRPr lang="en-US" sz="942" dirty="0"/>
          </a:p>
        </p:txBody>
      </p:sp>
      <p:sp>
        <p:nvSpPr>
          <p:cNvPr id="12" name="Text 8"/>
          <p:cNvSpPr/>
          <p:nvPr/>
        </p:nvSpPr>
        <p:spPr>
          <a:xfrm>
            <a:off x="571500" y="2574847"/>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D95D39"/>
                </a:solidFill>
                <a:latin typeface="Inter" pitchFamily="34" charset="0"/>
                <a:ea typeface="Inter" pitchFamily="34" charset="-122"/>
                <a:cs typeface="Inter" pitchFamily="34" charset="-120"/>
              </a:rPr>
              <a:t>—</a:t>
            </a:r>
            <a:endParaRPr lang="en-US" sz="942" dirty="0"/>
          </a:p>
        </p:txBody>
      </p:sp>
      <p:sp>
        <p:nvSpPr>
          <p:cNvPr id="13" name="Text 9"/>
          <p:cNvSpPr/>
          <p:nvPr/>
        </p:nvSpPr>
        <p:spPr>
          <a:xfrm>
            <a:off x="571500" y="2837715"/>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D95D39"/>
                </a:solidFill>
                <a:latin typeface="Inter" pitchFamily="34" charset="0"/>
                <a:ea typeface="Inter" pitchFamily="34" charset="-122"/>
                <a:cs typeface="Inter" pitchFamily="34" charset="-120"/>
              </a:rPr>
              <a:t>—</a:t>
            </a:r>
            <a:endParaRPr lang="en-US" sz="942" dirty="0"/>
          </a:p>
        </p:txBody>
      </p:sp>
      <p:sp>
        <p:nvSpPr>
          <p:cNvPr id="14" name="Text 10"/>
          <p:cNvSpPr/>
          <p:nvPr/>
        </p:nvSpPr>
        <p:spPr>
          <a:xfrm>
            <a:off x="571500" y="3443483"/>
            <a:ext cx="869752"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Machine B</a:t>
            </a:r>
            <a:endParaRPr lang="en-US" sz="1193" dirty="0"/>
          </a:p>
        </p:txBody>
      </p:sp>
      <p:sp>
        <p:nvSpPr>
          <p:cNvPr id="15" name="Text 11"/>
          <p:cNvSpPr/>
          <p:nvPr/>
        </p:nvSpPr>
        <p:spPr>
          <a:xfrm>
            <a:off x="1526977" y="3464914"/>
            <a:ext cx="996553"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D95D39"/>
                </a:solidFill>
                <a:latin typeface="Inter" pitchFamily="34" charset="0"/>
                <a:ea typeface="Inter" pitchFamily="34" charset="-122"/>
                <a:cs typeface="Inter" pitchFamily="34" charset="-120"/>
              </a:rPr>
              <a:t>Server / Inference</a:t>
            </a:r>
            <a:endParaRPr lang="en-US" sz="683" dirty="0"/>
          </a:p>
        </p:txBody>
      </p:sp>
      <p:sp>
        <p:nvSpPr>
          <p:cNvPr id="16" name="Text 12"/>
          <p:cNvSpPr/>
          <p:nvPr/>
        </p:nvSpPr>
        <p:spPr>
          <a:xfrm>
            <a:off x="571500" y="3936402"/>
            <a:ext cx="4057650" cy="205718"/>
          </a:xfrm>
          <a:prstGeom prst="rect">
            <a:avLst/>
          </a:prstGeom>
          <a:noFill/>
          <a:ln/>
        </p:spPr>
        <p:txBody>
          <a:bodyPr wrap="none" lIns="170053"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Receives and processes incoming image crops.</a:t>
            </a:r>
            <a:endParaRPr lang="en-US" sz="942" dirty="0"/>
          </a:p>
        </p:txBody>
      </p:sp>
      <p:sp>
        <p:nvSpPr>
          <p:cNvPr id="17" name="Text 13"/>
          <p:cNvSpPr/>
          <p:nvPr/>
        </p:nvSpPr>
        <p:spPr>
          <a:xfrm>
            <a:off x="571500" y="4199269"/>
            <a:ext cx="4057650" cy="205718"/>
          </a:xfrm>
          <a:prstGeom prst="rect">
            <a:avLst/>
          </a:prstGeom>
          <a:noFill/>
          <a:ln/>
        </p:spPr>
        <p:txBody>
          <a:bodyPr wrap="none" lIns="170053"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Performs OpenCV-based digit segmentation.</a:t>
            </a:r>
            <a:endParaRPr lang="en-US" sz="942" dirty="0"/>
          </a:p>
        </p:txBody>
      </p:sp>
      <p:sp>
        <p:nvSpPr>
          <p:cNvPr id="18" name="Text 14"/>
          <p:cNvSpPr/>
          <p:nvPr/>
        </p:nvSpPr>
        <p:spPr>
          <a:xfrm>
            <a:off x="571500" y="4462137"/>
            <a:ext cx="4057650" cy="205718"/>
          </a:xfrm>
          <a:prstGeom prst="rect">
            <a:avLst/>
          </a:prstGeom>
          <a:noFill/>
          <a:ln/>
        </p:spPr>
        <p:txBody>
          <a:bodyPr wrap="none" lIns="170053"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Executes CNN classification for final reading.</a:t>
            </a:r>
            <a:endParaRPr lang="en-US" sz="942" dirty="0"/>
          </a:p>
        </p:txBody>
      </p:sp>
      <p:sp>
        <p:nvSpPr>
          <p:cNvPr id="19" name="Text 15"/>
          <p:cNvSpPr/>
          <p:nvPr/>
        </p:nvSpPr>
        <p:spPr>
          <a:xfrm>
            <a:off x="571500" y="3936402"/>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D95D39"/>
                </a:solidFill>
                <a:latin typeface="Inter" pitchFamily="34" charset="0"/>
                <a:ea typeface="Inter" pitchFamily="34" charset="-122"/>
                <a:cs typeface="Inter" pitchFamily="34" charset="-120"/>
              </a:rPr>
              <a:t>—</a:t>
            </a:r>
            <a:endParaRPr lang="en-US" sz="942" dirty="0"/>
          </a:p>
        </p:txBody>
      </p:sp>
      <p:sp>
        <p:nvSpPr>
          <p:cNvPr id="20" name="Text 16"/>
          <p:cNvSpPr/>
          <p:nvPr/>
        </p:nvSpPr>
        <p:spPr>
          <a:xfrm>
            <a:off x="571500" y="4199269"/>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D95D39"/>
                </a:solidFill>
                <a:latin typeface="Inter" pitchFamily="34" charset="0"/>
                <a:ea typeface="Inter" pitchFamily="34" charset="-122"/>
                <a:cs typeface="Inter" pitchFamily="34" charset="-120"/>
              </a:rPr>
              <a:t>—</a:t>
            </a:r>
            <a:endParaRPr lang="en-US" sz="942" dirty="0"/>
          </a:p>
        </p:txBody>
      </p:sp>
      <p:sp>
        <p:nvSpPr>
          <p:cNvPr id="21" name="Text 17"/>
          <p:cNvSpPr/>
          <p:nvPr/>
        </p:nvSpPr>
        <p:spPr>
          <a:xfrm>
            <a:off x="571500" y="4462137"/>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D95D39"/>
                </a:solidFill>
                <a:latin typeface="Inter" pitchFamily="34" charset="0"/>
                <a:ea typeface="Inter" pitchFamily="34" charset="-122"/>
                <a:cs typeface="Inter" pitchFamily="34" charset="-120"/>
              </a:rPr>
              <a:t>—</a:t>
            </a:r>
            <a:endParaRPr lang="en-US" sz="942" dirty="0"/>
          </a:p>
        </p:txBody>
      </p:sp>
      <p:sp>
        <p:nvSpPr>
          <p:cNvPr id="22" name="Shape 18"/>
          <p:cNvSpPr/>
          <p:nvPr/>
        </p:nvSpPr>
        <p:spPr>
          <a:xfrm>
            <a:off x="5057775" y="1647611"/>
            <a:ext cx="3514725" cy="3157538"/>
          </a:xfrm>
          <a:prstGeom prst="rect">
            <a:avLst/>
          </a:prstGeom>
          <a:solidFill>
            <a:srgbClr val="F9F8F6"/>
          </a:solidFill>
          <a:ln w="9144">
            <a:solidFill>
              <a:srgbClr val="E7E5E4"/>
            </a:solidFill>
            <a:prstDash val="solid"/>
          </a:ln>
        </p:spPr>
      </p:sp>
      <p:sp>
        <p:nvSpPr>
          <p:cNvPr id="23" name="Text 19"/>
          <p:cNvSpPr/>
          <p:nvPr/>
        </p:nvSpPr>
        <p:spPr>
          <a:xfrm>
            <a:off x="5214938" y="3081719"/>
            <a:ext cx="1406789" cy="275034"/>
          </a:xfrm>
          <a:prstGeom prst="rect">
            <a:avLst/>
          </a:prstGeom>
          <a:noFill/>
          <a:ln/>
        </p:spPr>
        <p:txBody>
          <a:bodyPr wrap="square" lIns="0" tIns="0" rIns="0" bIns="0" rtlCol="0" anchor="t">
            <a:spAutoFit/>
          </a:bodyPr>
          <a:lstStyle/>
          <a:p>
            <a:pPr algn="ctr" indent="0" marL="0">
              <a:lnSpc>
                <a:spcPts val="1100"/>
              </a:lnSpc>
              <a:buNone/>
            </a:pPr>
            <a:r>
              <a:rPr lang="en-US" sz="834" i="1" dirty="0">
                <a:solidFill>
                  <a:srgbClr val="57534E"/>
                </a:solidFill>
                <a:latin typeface="Inter" pitchFamily="34" charset="0"/>
                <a:ea typeface="Inter" pitchFamily="34" charset="-122"/>
                <a:cs typeface="Inter" pitchFamily="34" charset="-120"/>
              </a:rPr>
              <a:t>[Visual: Architecture Flowchart]</a:t>
            </a:r>
            <a:endParaRPr lang="en-US" sz="834" dirty="0"/>
          </a:p>
        </p:txBody>
      </p:sp>
      <p:sp>
        <p:nvSpPr>
          <p:cNvPr id="24" name="Text 20"/>
          <p:cNvSpPr/>
          <p:nvPr/>
        </p:nvSpPr>
        <p:spPr>
          <a:xfrm>
            <a:off x="6621726" y="3081719"/>
            <a:ext cx="1807899" cy="275034"/>
          </a:xfrm>
          <a:prstGeom prst="rect">
            <a:avLst/>
          </a:prstGeom>
          <a:noFill/>
          <a:ln/>
        </p:spPr>
        <p:txBody>
          <a:bodyPr wrap="square" lIns="0" tIns="0" rIns="0" bIns="0" rtlCol="0" anchor="t">
            <a:spAutoFit/>
          </a:bodyPr>
          <a:lstStyle/>
          <a:p>
            <a:pPr algn="ctr" indent="0" marL="0">
              <a:lnSpc>
                <a:spcPts val="1100"/>
              </a:lnSpc>
              <a:buNone/>
            </a:pPr>
            <a:r>
              <a:rPr lang="en-US" sz="834" i="1" dirty="0">
                <a:solidFill>
                  <a:srgbClr val="57534E"/>
                </a:solidFill>
                <a:latin typeface="Inter" pitchFamily="34" charset="0"/>
                <a:ea typeface="Inter" pitchFamily="34" charset="-122"/>
                <a:cs typeface="Inter" pitchFamily="34" charset="-120"/>
              </a:rPr>
              <a:t>Client (YOLO) → Socket → Server (CNN)</a:t>
            </a:r>
            <a:endParaRPr lang="en-US" sz="834" dirty="0"/>
          </a:p>
        </p:txBody>
      </p:sp>
      <p:sp>
        <p:nvSpPr>
          <p:cNvPr id="25" name="Text 21"/>
          <p:cNvSpPr/>
          <p:nvPr/>
        </p:nvSpPr>
        <p:spPr>
          <a:xfrm>
            <a:off x="5516761" y="4905161"/>
            <a:ext cx="2611041" cy="121444"/>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57534E"/>
                </a:solidFill>
                <a:latin typeface="Inter" pitchFamily="34" charset="0"/>
                <a:ea typeface="Inter" pitchFamily="34" charset="-122"/>
                <a:cs typeface="Inter" pitchFamily="34" charset="-120"/>
              </a:rPr>
              <a:t>Figure 2: Distributed acquisition and inference pipeline.</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5D39"/>
                </a:solidFill>
                <a:latin typeface="Inter" pitchFamily="34" charset="0"/>
                <a:ea typeface="Inter" pitchFamily="34" charset="-122"/>
                <a:cs typeface="Inter" pitchFamily="34" charset="-120"/>
              </a:rPr>
              <a:t>C-AXIS: CONTRIBUTION</a:t>
            </a:r>
            <a:endParaRPr lang="en-US" sz="683" dirty="0"/>
          </a:p>
        </p:txBody>
      </p:sp>
      <p:sp>
        <p:nvSpPr>
          <p:cNvPr id="5" name="Text 1"/>
          <p:cNvSpPr/>
          <p:nvPr/>
        </p:nvSpPr>
        <p:spPr>
          <a:xfrm>
            <a:off x="571500" y="834675"/>
            <a:ext cx="800100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C1917"/>
                </a:solidFill>
                <a:latin typeface="Source Serif Pro" pitchFamily="34" charset="0"/>
                <a:ea typeface="Source Serif Pro" pitchFamily="34" charset="-122"/>
                <a:cs typeface="Source Serif Pro" pitchFamily="34" charset="-120"/>
              </a:rPr>
              <a:t>Component Validation</a:t>
            </a:r>
            <a:endParaRPr lang="en-US" sz="2436" dirty="0"/>
          </a:p>
        </p:txBody>
      </p:sp>
      <p:sp>
        <p:nvSpPr>
          <p:cNvPr id="6" name="Text 2"/>
          <p:cNvSpPr/>
          <p:nvPr/>
        </p:nvSpPr>
        <p:spPr>
          <a:xfrm>
            <a:off x="571500" y="1647611"/>
            <a:ext cx="3786188" cy="400050"/>
          </a:xfrm>
          <a:prstGeom prst="rect">
            <a:avLst/>
          </a:prstGeom>
          <a:noFill/>
          <a:ln/>
        </p:spPr>
        <p:txBody>
          <a:bodyPr wrap="none" lIns="0" tIns="0" rIns="0" bIns="0" rtlCol="0" anchor="t">
            <a:spAutoFit/>
          </a:bodyPr>
          <a:lstStyle/>
          <a:p>
            <a:pPr algn="l" indent="0" marL="0">
              <a:lnSpc>
                <a:spcPts val="3200"/>
              </a:lnSpc>
              <a:buNone/>
            </a:pPr>
            <a:r>
              <a:rPr lang="en-US" sz="2862" b="1" dirty="0">
                <a:solidFill>
                  <a:srgbClr val="D95D39"/>
                </a:solidFill>
                <a:latin typeface="Source Serif Pro" pitchFamily="34" charset="0"/>
                <a:ea typeface="Source Serif Pro" pitchFamily="34" charset="-122"/>
                <a:cs typeface="Source Serif Pro" pitchFamily="34" charset="-120"/>
              </a:rPr>
              <a:t>100%</a:t>
            </a:r>
            <a:endParaRPr lang="en-US" sz="2862" dirty="0"/>
          </a:p>
        </p:txBody>
      </p:sp>
      <p:sp>
        <p:nvSpPr>
          <p:cNvPr id="7" name="Text 3"/>
          <p:cNvSpPr/>
          <p:nvPr/>
        </p:nvSpPr>
        <p:spPr>
          <a:xfrm>
            <a:off x="571500" y="2104811"/>
            <a:ext cx="3786188"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C1917"/>
                </a:solidFill>
                <a:latin typeface="Inter" pitchFamily="34" charset="0"/>
                <a:ea typeface="Inter" pitchFamily="34" charset="-122"/>
                <a:cs typeface="Inter" pitchFamily="34" charset="-120"/>
              </a:rPr>
              <a:t>YOLOv8n ROI Success</a:t>
            </a:r>
            <a:endParaRPr lang="en-US" sz="885" dirty="0"/>
          </a:p>
        </p:txBody>
      </p:sp>
      <p:sp>
        <p:nvSpPr>
          <p:cNvPr id="8" name="Text 4"/>
          <p:cNvSpPr/>
          <p:nvPr/>
        </p:nvSpPr>
        <p:spPr>
          <a:xfrm>
            <a:off x="571500" y="2374488"/>
            <a:ext cx="3786188"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4403C"/>
                </a:solidFill>
                <a:latin typeface="Inter" pitchFamily="34" charset="0"/>
                <a:ea typeface="Inter" pitchFamily="34" charset="-122"/>
                <a:cs typeface="Inter" pitchFamily="34" charset="-120"/>
              </a:rPr>
              <a:t>Perfect detection rate on 50 test images. Performance reached 99.34% mAP@50 and 75.62% mAP@50-95.</a:t>
            </a:r>
            <a:endParaRPr lang="en-US" sz="834" dirty="0"/>
          </a:p>
        </p:txBody>
      </p:sp>
      <p:sp>
        <p:nvSpPr>
          <p:cNvPr id="9" name="Shape 5"/>
          <p:cNvSpPr/>
          <p:nvPr/>
        </p:nvSpPr>
        <p:spPr>
          <a:xfrm>
            <a:off x="571500" y="2945988"/>
            <a:ext cx="3800475" cy="1585913"/>
          </a:xfrm>
          <a:prstGeom prst="rect">
            <a:avLst/>
          </a:prstGeom>
          <a:solidFill>
            <a:srgbClr val="F9F8F6"/>
          </a:solidFill>
          <a:ln w="9144">
            <a:solidFill>
              <a:srgbClr val="E7E5E4"/>
            </a:solidFill>
            <a:prstDash val="solid"/>
          </a:ln>
        </p:spPr>
      </p:sp>
      <p:sp>
        <p:nvSpPr>
          <p:cNvPr id="10" name="Text 6"/>
          <p:cNvSpPr/>
          <p:nvPr/>
        </p:nvSpPr>
        <p:spPr>
          <a:xfrm>
            <a:off x="571500" y="2945988"/>
            <a:ext cx="3800475" cy="1585913"/>
          </a:xfrm>
          <a:prstGeom prst="rect">
            <a:avLst/>
          </a:prstGeom>
          <a:noFill/>
          <a:ln/>
        </p:spPr>
        <p:txBody>
          <a:bodyPr wrap="square" lIns="0" tIns="0" rIns="0" bIns="0" rtlCol="0" anchor="ctr">
            <a:spAutoFit/>
          </a:bodyPr>
          <a:lstStyle/>
          <a:p>
            <a:pPr algn="ctr" indent="0" marL="0">
              <a:lnSpc>
                <a:spcPts val="900"/>
              </a:lnSpc>
              <a:buNone/>
            </a:pPr>
            <a:r>
              <a:rPr lang="en-US" sz="727" i="1" dirty="0">
                <a:solidFill>
                  <a:srgbClr val="57534E"/>
                </a:solidFill>
                <a:latin typeface="Inter" pitchFamily="34" charset="0"/>
                <a:ea typeface="Inter" pitchFamily="34" charset="-122"/>
                <a:cs typeface="Inter" pitchFamily="34" charset="-120"/>
              </a:rPr>
              <a:t>[Visual: yolo crop.png - ROI Bounding Box]</a:t>
            </a:r>
            <a:endParaRPr lang="en-US" sz="727" dirty="0"/>
          </a:p>
        </p:txBody>
      </p:sp>
      <p:sp>
        <p:nvSpPr>
          <p:cNvPr id="11" name="Text 7"/>
          <p:cNvSpPr/>
          <p:nvPr/>
        </p:nvSpPr>
        <p:spPr>
          <a:xfrm>
            <a:off x="4786313" y="1647611"/>
            <a:ext cx="3786188" cy="400050"/>
          </a:xfrm>
          <a:prstGeom prst="rect">
            <a:avLst/>
          </a:prstGeom>
          <a:noFill/>
          <a:ln/>
        </p:spPr>
        <p:txBody>
          <a:bodyPr wrap="none" lIns="0" tIns="0" rIns="0" bIns="0" rtlCol="0" anchor="t">
            <a:spAutoFit/>
          </a:bodyPr>
          <a:lstStyle/>
          <a:p>
            <a:pPr algn="l" indent="0" marL="0">
              <a:lnSpc>
                <a:spcPts val="3200"/>
              </a:lnSpc>
              <a:buNone/>
            </a:pPr>
            <a:r>
              <a:rPr lang="en-US" sz="2862" b="1" dirty="0">
                <a:solidFill>
                  <a:srgbClr val="D95D39"/>
                </a:solidFill>
                <a:latin typeface="Source Serif Pro" pitchFamily="34" charset="0"/>
                <a:ea typeface="Source Serif Pro" pitchFamily="34" charset="-122"/>
                <a:cs typeface="Source Serif Pro" pitchFamily="34" charset="-120"/>
              </a:rPr>
              <a:t>99.00%</a:t>
            </a:r>
            <a:endParaRPr lang="en-US" sz="2862" dirty="0"/>
          </a:p>
        </p:txBody>
      </p:sp>
      <p:sp>
        <p:nvSpPr>
          <p:cNvPr id="12" name="Text 8"/>
          <p:cNvSpPr/>
          <p:nvPr/>
        </p:nvSpPr>
        <p:spPr>
          <a:xfrm>
            <a:off x="4786313" y="2104811"/>
            <a:ext cx="3786188"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C1917"/>
                </a:solidFill>
                <a:latin typeface="Inter" pitchFamily="34" charset="0"/>
                <a:ea typeface="Inter" pitchFamily="34" charset="-122"/>
                <a:cs typeface="Inter" pitchFamily="34" charset="-120"/>
              </a:rPr>
              <a:t>CNN Classification Accuracy</a:t>
            </a:r>
            <a:endParaRPr lang="en-US" sz="885" dirty="0"/>
          </a:p>
        </p:txBody>
      </p:sp>
      <p:sp>
        <p:nvSpPr>
          <p:cNvPr id="13" name="Text 9"/>
          <p:cNvSpPr/>
          <p:nvPr/>
        </p:nvSpPr>
        <p:spPr>
          <a:xfrm>
            <a:off x="4786313" y="2374488"/>
            <a:ext cx="3786188"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4403C"/>
                </a:solidFill>
                <a:latin typeface="Inter" pitchFamily="34" charset="0"/>
                <a:ea typeface="Inter" pitchFamily="34" charset="-122"/>
                <a:cs typeface="Inter" pitchFamily="34" charset="-120"/>
              </a:rPr>
              <a:t>Trained on 9,960 digit crops. Final hold-out accuracy achieved with a macro average of 0.99.</a:t>
            </a:r>
            <a:endParaRPr lang="en-US" sz="834" dirty="0"/>
          </a:p>
        </p:txBody>
      </p:sp>
      <p:sp>
        <p:nvSpPr>
          <p:cNvPr id="14" name="Shape 10"/>
          <p:cNvSpPr/>
          <p:nvPr/>
        </p:nvSpPr>
        <p:spPr>
          <a:xfrm>
            <a:off x="4786313" y="2945988"/>
            <a:ext cx="3800475" cy="1585913"/>
          </a:xfrm>
          <a:prstGeom prst="rect">
            <a:avLst/>
          </a:prstGeom>
          <a:solidFill>
            <a:srgbClr val="F9F8F6"/>
          </a:solidFill>
          <a:ln w="9144">
            <a:solidFill>
              <a:srgbClr val="E7E5E4"/>
            </a:solidFill>
            <a:prstDash val="solid"/>
          </a:ln>
        </p:spPr>
      </p:sp>
      <p:sp>
        <p:nvSpPr>
          <p:cNvPr id="15" name="Text 11"/>
          <p:cNvSpPr/>
          <p:nvPr/>
        </p:nvSpPr>
        <p:spPr>
          <a:xfrm>
            <a:off x="4786313" y="2945988"/>
            <a:ext cx="3800475" cy="1585913"/>
          </a:xfrm>
          <a:prstGeom prst="rect">
            <a:avLst/>
          </a:prstGeom>
          <a:noFill/>
          <a:ln/>
        </p:spPr>
        <p:txBody>
          <a:bodyPr wrap="square" lIns="0" tIns="0" rIns="0" bIns="0" rtlCol="0" anchor="ctr">
            <a:spAutoFit/>
          </a:bodyPr>
          <a:lstStyle/>
          <a:p>
            <a:pPr algn="ctr" indent="0" marL="0">
              <a:lnSpc>
                <a:spcPts val="900"/>
              </a:lnSpc>
              <a:buNone/>
            </a:pPr>
            <a:r>
              <a:rPr lang="en-US" sz="727" i="1" dirty="0">
                <a:solidFill>
                  <a:srgbClr val="57534E"/>
                </a:solidFill>
                <a:latin typeface="Inter" pitchFamily="34" charset="0"/>
                <a:ea typeface="Inter" pitchFamily="34" charset="-122"/>
                <a:cs typeface="Inter" pitchFamily="34" charset="-120"/>
              </a:rPr>
              <a:t>[Visual: cnn detection.png - "05866" Reading]</a:t>
            </a:r>
            <a:endParaRPr lang="en-US" sz="72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5D39"/>
                </a:solidFill>
                <a:latin typeface="Inter" pitchFamily="34" charset="0"/>
                <a:ea typeface="Inter" pitchFamily="34" charset="-122"/>
                <a:cs typeface="Inter" pitchFamily="34" charset="-120"/>
              </a:rPr>
              <a:t>STATE OF THE ART</a:t>
            </a:r>
            <a:endParaRPr lang="en-US" sz="683" dirty="0"/>
          </a:p>
        </p:txBody>
      </p:sp>
      <p:sp>
        <p:nvSpPr>
          <p:cNvPr id="5" name="Text 1"/>
          <p:cNvSpPr/>
          <p:nvPr/>
        </p:nvSpPr>
        <p:spPr>
          <a:xfrm>
            <a:off x="571500" y="834675"/>
            <a:ext cx="800100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C1917"/>
                </a:solidFill>
                <a:latin typeface="Source Serif Pro" pitchFamily="34" charset="0"/>
                <a:ea typeface="Source Serif Pro" pitchFamily="34" charset="-122"/>
                <a:cs typeface="Source Serif Pro" pitchFamily="34" charset="-120"/>
              </a:rPr>
              <a:t>Benchmark Comparison</a:t>
            </a:r>
            <a:endParaRPr lang="en-US" sz="2436" dirty="0"/>
          </a:p>
        </p:txBody>
      </p:sp>
      <p:sp>
        <p:nvSpPr>
          <p:cNvPr id="6" name="Text 2"/>
          <p:cNvSpPr/>
          <p:nvPr/>
        </p:nvSpPr>
        <p:spPr>
          <a:xfrm>
            <a:off x="571500" y="1790486"/>
            <a:ext cx="2333467" cy="387548"/>
          </a:xfrm>
          <a:prstGeom prst="rect">
            <a:avLst/>
          </a:prstGeom>
          <a:noFill/>
          <a:ln/>
        </p:spPr>
        <p:txBody>
          <a:bodyPr wrap="square" lIns="8509" tIns="136017" rIns="8509" bIns="136017" rtlCol="0" anchor="ctr">
            <a:spAutoFit/>
          </a:bodyPr>
          <a:lstStyle/>
          <a:p>
            <a:pPr algn="l" indent="0" marL="0">
              <a:lnSpc>
                <a:spcPts val="1200"/>
              </a:lnSpc>
              <a:buNone/>
            </a:pPr>
            <a:r>
              <a:rPr lang="en-US" sz="885" b="1" dirty="0">
                <a:solidFill>
                  <a:srgbClr val="1C1917"/>
                </a:solidFill>
                <a:latin typeface="Inter" pitchFamily="34" charset="0"/>
                <a:ea typeface="Inter" pitchFamily="34" charset="-122"/>
                <a:cs typeface="Inter" pitchFamily="34" charset="-120"/>
              </a:rPr>
              <a:t>System</a:t>
            </a:r>
            <a:endParaRPr lang="en-US" sz="885" dirty="0"/>
          </a:p>
        </p:txBody>
      </p:sp>
      <p:sp>
        <p:nvSpPr>
          <p:cNvPr id="7" name="Text 3"/>
          <p:cNvSpPr/>
          <p:nvPr/>
        </p:nvSpPr>
        <p:spPr>
          <a:xfrm>
            <a:off x="2904967" y="1790486"/>
            <a:ext cx="2007784" cy="387548"/>
          </a:xfrm>
          <a:prstGeom prst="rect">
            <a:avLst/>
          </a:prstGeom>
          <a:noFill/>
          <a:ln/>
        </p:spPr>
        <p:txBody>
          <a:bodyPr wrap="square" lIns="8509" tIns="136017" rIns="8509" bIns="136017" rtlCol="0" anchor="ctr">
            <a:spAutoFit/>
          </a:bodyPr>
          <a:lstStyle/>
          <a:p>
            <a:pPr algn="l" indent="0" marL="0">
              <a:lnSpc>
                <a:spcPts val="1200"/>
              </a:lnSpc>
              <a:buNone/>
            </a:pPr>
            <a:r>
              <a:rPr lang="en-US" sz="885" b="1" dirty="0">
                <a:solidFill>
                  <a:srgbClr val="1C1917"/>
                </a:solidFill>
                <a:latin typeface="Inter" pitchFamily="34" charset="0"/>
                <a:ea typeface="Inter" pitchFamily="34" charset="-122"/>
                <a:cs typeface="Inter" pitchFamily="34" charset="-120"/>
              </a:rPr>
              <a:t>ROI Localization</a:t>
            </a:r>
            <a:endParaRPr lang="en-US" sz="885" dirty="0"/>
          </a:p>
        </p:txBody>
      </p:sp>
      <p:sp>
        <p:nvSpPr>
          <p:cNvPr id="8" name="Text 4"/>
          <p:cNvSpPr/>
          <p:nvPr/>
        </p:nvSpPr>
        <p:spPr>
          <a:xfrm>
            <a:off x="4912751" y="1790486"/>
            <a:ext cx="1228837" cy="387548"/>
          </a:xfrm>
          <a:prstGeom prst="rect">
            <a:avLst/>
          </a:prstGeom>
          <a:noFill/>
          <a:ln/>
        </p:spPr>
        <p:txBody>
          <a:bodyPr wrap="square" lIns="8509" tIns="136017" rIns="8509" bIns="136017" rtlCol="0" anchor="ctr">
            <a:spAutoFit/>
          </a:bodyPr>
          <a:lstStyle/>
          <a:p>
            <a:pPr algn="l" indent="0" marL="0">
              <a:lnSpc>
                <a:spcPts val="1200"/>
              </a:lnSpc>
              <a:buNone/>
            </a:pPr>
            <a:r>
              <a:rPr lang="en-US" sz="885" b="1" dirty="0">
                <a:solidFill>
                  <a:srgbClr val="1C1917"/>
                </a:solidFill>
                <a:latin typeface="Inter" pitchFamily="34" charset="0"/>
                <a:ea typeface="Inter" pitchFamily="34" charset="-122"/>
                <a:cs typeface="Inter" pitchFamily="34" charset="-120"/>
              </a:rPr>
              <a:t>Autonomy</a:t>
            </a:r>
            <a:endParaRPr lang="en-US" sz="885" dirty="0"/>
          </a:p>
        </p:txBody>
      </p:sp>
      <p:sp>
        <p:nvSpPr>
          <p:cNvPr id="9" name="Text 5"/>
          <p:cNvSpPr/>
          <p:nvPr/>
        </p:nvSpPr>
        <p:spPr>
          <a:xfrm>
            <a:off x="6141588" y="1790486"/>
            <a:ext cx="2430912" cy="387548"/>
          </a:xfrm>
          <a:prstGeom prst="rect">
            <a:avLst/>
          </a:prstGeom>
          <a:noFill/>
          <a:ln/>
        </p:spPr>
        <p:txBody>
          <a:bodyPr wrap="square" lIns="8509" tIns="136017" rIns="8509" bIns="136017" rtlCol="0" anchor="ctr">
            <a:spAutoFit/>
          </a:bodyPr>
          <a:lstStyle/>
          <a:p>
            <a:pPr algn="l" indent="0" marL="0">
              <a:lnSpc>
                <a:spcPts val="1200"/>
              </a:lnSpc>
              <a:buNone/>
            </a:pPr>
            <a:r>
              <a:rPr lang="en-US" sz="885" b="1" dirty="0">
                <a:solidFill>
                  <a:srgbClr val="1C1917"/>
                </a:solidFill>
                <a:latin typeface="Inter" pitchFamily="34" charset="0"/>
                <a:ea typeface="Inter" pitchFamily="34" charset="-122"/>
                <a:cs typeface="Inter" pitchFamily="34" charset="-120"/>
              </a:rPr>
              <a:t>Scalability</a:t>
            </a:r>
            <a:endParaRPr lang="en-US" sz="885" dirty="0"/>
          </a:p>
        </p:txBody>
      </p:sp>
      <p:sp>
        <p:nvSpPr>
          <p:cNvPr id="10" name="Text 6"/>
          <p:cNvSpPr/>
          <p:nvPr/>
        </p:nvSpPr>
        <p:spPr>
          <a:xfrm>
            <a:off x="571500" y="2178034"/>
            <a:ext cx="2333467"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Traditional CV</a:t>
            </a:r>
            <a:endParaRPr lang="en-US" sz="888" dirty="0"/>
          </a:p>
        </p:txBody>
      </p:sp>
      <p:sp>
        <p:nvSpPr>
          <p:cNvPr id="11" name="Text 7"/>
          <p:cNvSpPr/>
          <p:nvPr/>
        </p:nvSpPr>
        <p:spPr>
          <a:xfrm>
            <a:off x="2904967" y="2178034"/>
            <a:ext cx="2007784"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Fixed / Manual</a:t>
            </a:r>
            <a:endParaRPr lang="en-US" sz="888" dirty="0"/>
          </a:p>
        </p:txBody>
      </p:sp>
      <p:sp>
        <p:nvSpPr>
          <p:cNvPr id="12" name="Text 8"/>
          <p:cNvSpPr/>
          <p:nvPr/>
        </p:nvSpPr>
        <p:spPr>
          <a:xfrm>
            <a:off x="4912751" y="2178034"/>
            <a:ext cx="1228837"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Low</a:t>
            </a:r>
            <a:endParaRPr lang="en-US" sz="888" dirty="0"/>
          </a:p>
        </p:txBody>
      </p:sp>
      <p:sp>
        <p:nvSpPr>
          <p:cNvPr id="13" name="Text 9"/>
          <p:cNvSpPr/>
          <p:nvPr/>
        </p:nvSpPr>
        <p:spPr>
          <a:xfrm>
            <a:off x="6141588" y="2178034"/>
            <a:ext cx="2430912"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Low</a:t>
            </a:r>
            <a:endParaRPr lang="en-US" sz="888" dirty="0"/>
          </a:p>
        </p:txBody>
      </p:sp>
      <p:sp>
        <p:nvSpPr>
          <p:cNvPr id="14" name="Text 10"/>
          <p:cNvSpPr/>
          <p:nvPr/>
        </p:nvSpPr>
        <p:spPr>
          <a:xfrm>
            <a:off x="571500" y="2617375"/>
            <a:ext cx="2333467"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Legacy Edge (Jomjol)</a:t>
            </a:r>
            <a:endParaRPr lang="en-US" sz="888" dirty="0"/>
          </a:p>
        </p:txBody>
      </p:sp>
      <p:sp>
        <p:nvSpPr>
          <p:cNvPr id="15" name="Text 11"/>
          <p:cNvSpPr/>
          <p:nvPr/>
        </p:nvSpPr>
        <p:spPr>
          <a:xfrm>
            <a:off x="2904967" y="2617375"/>
            <a:ext cx="2007784"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Manual Web UI</a:t>
            </a:r>
            <a:endParaRPr lang="en-US" sz="888" dirty="0"/>
          </a:p>
        </p:txBody>
      </p:sp>
      <p:sp>
        <p:nvSpPr>
          <p:cNvPr id="16" name="Text 12"/>
          <p:cNvSpPr/>
          <p:nvPr/>
        </p:nvSpPr>
        <p:spPr>
          <a:xfrm>
            <a:off x="4912751" y="2617375"/>
            <a:ext cx="1228837"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Low</a:t>
            </a:r>
            <a:endParaRPr lang="en-US" sz="888" dirty="0"/>
          </a:p>
        </p:txBody>
      </p:sp>
      <p:sp>
        <p:nvSpPr>
          <p:cNvPr id="17" name="Text 13"/>
          <p:cNvSpPr/>
          <p:nvPr/>
        </p:nvSpPr>
        <p:spPr>
          <a:xfrm>
            <a:off x="6141588" y="2617375"/>
            <a:ext cx="2430912"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Medium</a:t>
            </a:r>
            <a:endParaRPr lang="en-US" sz="888" dirty="0"/>
          </a:p>
        </p:txBody>
      </p:sp>
      <p:sp>
        <p:nvSpPr>
          <p:cNvPr id="18" name="Text 14"/>
          <p:cNvSpPr/>
          <p:nvPr/>
        </p:nvSpPr>
        <p:spPr>
          <a:xfrm>
            <a:off x="571500" y="3056716"/>
            <a:ext cx="2333467"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Laroca et al.</a:t>
            </a:r>
            <a:endParaRPr lang="en-US" sz="888" dirty="0"/>
          </a:p>
        </p:txBody>
      </p:sp>
      <p:sp>
        <p:nvSpPr>
          <p:cNvPr id="19" name="Text 15"/>
          <p:cNvSpPr/>
          <p:nvPr/>
        </p:nvSpPr>
        <p:spPr>
          <a:xfrm>
            <a:off x="2904967" y="3056716"/>
            <a:ext cx="2007784"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Automatic (Server)</a:t>
            </a:r>
            <a:endParaRPr lang="en-US" sz="888" dirty="0"/>
          </a:p>
        </p:txBody>
      </p:sp>
      <p:sp>
        <p:nvSpPr>
          <p:cNvPr id="20" name="Text 16"/>
          <p:cNvSpPr/>
          <p:nvPr/>
        </p:nvSpPr>
        <p:spPr>
          <a:xfrm>
            <a:off x="4912751" y="3056716"/>
            <a:ext cx="1228837"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High</a:t>
            </a:r>
            <a:endParaRPr lang="en-US" sz="888" dirty="0"/>
          </a:p>
        </p:txBody>
      </p:sp>
      <p:sp>
        <p:nvSpPr>
          <p:cNvPr id="21" name="Text 17"/>
          <p:cNvSpPr/>
          <p:nvPr/>
        </p:nvSpPr>
        <p:spPr>
          <a:xfrm>
            <a:off x="6141588" y="3056716"/>
            <a:ext cx="2430912" cy="439341"/>
          </a:xfrm>
          <a:prstGeom prst="rect">
            <a:avLst/>
          </a:prstGeom>
          <a:noFill/>
          <a:ln/>
        </p:spPr>
        <p:txBody>
          <a:bodyPr wrap="square" lIns="8509" tIns="170053" rIns="8509" bIns="170053" rtlCol="0" anchor="ctr">
            <a:spAutoFit/>
          </a:bodyPr>
          <a:lstStyle/>
          <a:p>
            <a:pPr algn="l" indent="0" marL="0">
              <a:lnSpc>
                <a:spcPts val="1100"/>
              </a:lnSpc>
              <a:buNone/>
            </a:pPr>
            <a:r>
              <a:rPr lang="en-US" sz="888" dirty="0">
                <a:solidFill>
                  <a:srgbClr val="44403C"/>
                </a:solidFill>
                <a:latin typeface="Inter" pitchFamily="34" charset="0"/>
                <a:ea typeface="Inter" pitchFamily="34" charset="-122"/>
                <a:cs typeface="Inter" pitchFamily="34" charset="-120"/>
              </a:rPr>
              <a:t>Low (Resource Heavy)</a:t>
            </a:r>
            <a:endParaRPr lang="en-US" sz="888" dirty="0"/>
          </a:p>
        </p:txBody>
      </p:sp>
      <p:sp>
        <p:nvSpPr>
          <p:cNvPr id="22" name="Shape 18"/>
          <p:cNvSpPr/>
          <p:nvPr/>
        </p:nvSpPr>
        <p:spPr>
          <a:xfrm>
            <a:off x="571500" y="3496056"/>
            <a:ext cx="8001000" cy="439341"/>
          </a:xfrm>
          <a:prstGeom prst="rect">
            <a:avLst/>
          </a:prstGeom>
          <a:solidFill>
            <a:srgbClr val="F9F8F6"/>
          </a:solidFill>
          <a:ln/>
        </p:spPr>
      </p:sp>
      <p:sp>
        <p:nvSpPr>
          <p:cNvPr id="23" name="Text 19"/>
          <p:cNvSpPr/>
          <p:nvPr/>
        </p:nvSpPr>
        <p:spPr>
          <a:xfrm>
            <a:off x="571500" y="3496056"/>
            <a:ext cx="2333467" cy="439341"/>
          </a:xfrm>
          <a:prstGeom prst="rect">
            <a:avLst/>
          </a:prstGeom>
          <a:noFill/>
          <a:ln/>
        </p:spPr>
        <p:txBody>
          <a:bodyPr wrap="square" lIns="8509" tIns="170053" rIns="8509" bIns="170053" rtlCol="0" anchor="ctr">
            <a:spAutoFit/>
          </a:bodyPr>
          <a:lstStyle/>
          <a:p>
            <a:pPr algn="l" indent="0" marL="0">
              <a:lnSpc>
                <a:spcPts val="1100"/>
              </a:lnSpc>
              <a:buNone/>
            </a:pPr>
            <a:r>
              <a:rPr lang="en-US" sz="834" b="1" dirty="0">
                <a:solidFill>
                  <a:srgbClr val="D95D39"/>
                </a:solidFill>
                <a:latin typeface="Inter" pitchFamily="34" charset="0"/>
                <a:ea typeface="Inter" pitchFamily="34" charset="-122"/>
                <a:cs typeface="Inter" pitchFamily="34" charset="-120"/>
              </a:rPr>
              <a:t>Proposed System</a:t>
            </a:r>
            <a:endParaRPr lang="en-US" sz="834" dirty="0"/>
          </a:p>
        </p:txBody>
      </p:sp>
      <p:sp>
        <p:nvSpPr>
          <p:cNvPr id="24" name="Text 20"/>
          <p:cNvSpPr/>
          <p:nvPr/>
        </p:nvSpPr>
        <p:spPr>
          <a:xfrm>
            <a:off x="2904967" y="3496056"/>
            <a:ext cx="2007784" cy="439341"/>
          </a:xfrm>
          <a:prstGeom prst="rect">
            <a:avLst/>
          </a:prstGeom>
          <a:noFill/>
          <a:ln/>
        </p:spPr>
        <p:txBody>
          <a:bodyPr wrap="square" lIns="8509" tIns="170053" rIns="8509" bIns="170053" rtlCol="0" anchor="ctr">
            <a:spAutoFit/>
          </a:bodyPr>
          <a:lstStyle/>
          <a:p>
            <a:pPr algn="l" indent="0" marL="0">
              <a:lnSpc>
                <a:spcPts val="1100"/>
              </a:lnSpc>
              <a:buNone/>
            </a:pPr>
            <a:r>
              <a:rPr lang="en-US" sz="834" b="1" dirty="0">
                <a:solidFill>
                  <a:srgbClr val="D95D39"/>
                </a:solidFill>
                <a:latin typeface="Inter" pitchFamily="34" charset="0"/>
                <a:ea typeface="Inter" pitchFamily="34" charset="-122"/>
                <a:cs typeface="Inter" pitchFamily="34" charset="-120"/>
              </a:rPr>
              <a:t>Automatic (YOLO)</a:t>
            </a:r>
            <a:endParaRPr lang="en-US" sz="834" dirty="0"/>
          </a:p>
        </p:txBody>
      </p:sp>
      <p:sp>
        <p:nvSpPr>
          <p:cNvPr id="25" name="Text 21"/>
          <p:cNvSpPr/>
          <p:nvPr/>
        </p:nvSpPr>
        <p:spPr>
          <a:xfrm>
            <a:off x="4912751" y="3496056"/>
            <a:ext cx="1228837" cy="439341"/>
          </a:xfrm>
          <a:prstGeom prst="rect">
            <a:avLst/>
          </a:prstGeom>
          <a:noFill/>
          <a:ln/>
        </p:spPr>
        <p:txBody>
          <a:bodyPr wrap="square" lIns="8509" tIns="170053" rIns="8509" bIns="170053" rtlCol="0" anchor="ctr">
            <a:spAutoFit/>
          </a:bodyPr>
          <a:lstStyle/>
          <a:p>
            <a:pPr algn="l" indent="0" marL="0">
              <a:lnSpc>
                <a:spcPts val="1100"/>
              </a:lnSpc>
              <a:buNone/>
            </a:pPr>
            <a:r>
              <a:rPr lang="en-US" sz="834" b="1" dirty="0">
                <a:solidFill>
                  <a:srgbClr val="D95D39"/>
                </a:solidFill>
                <a:latin typeface="Inter" pitchFamily="34" charset="0"/>
                <a:ea typeface="Inter" pitchFamily="34" charset="-122"/>
                <a:cs typeface="Inter" pitchFamily="34" charset="-120"/>
              </a:rPr>
              <a:t>High</a:t>
            </a:r>
            <a:endParaRPr lang="en-US" sz="834" dirty="0"/>
          </a:p>
        </p:txBody>
      </p:sp>
      <p:sp>
        <p:nvSpPr>
          <p:cNvPr id="26" name="Text 22"/>
          <p:cNvSpPr/>
          <p:nvPr/>
        </p:nvSpPr>
        <p:spPr>
          <a:xfrm>
            <a:off x="6141588" y="3496056"/>
            <a:ext cx="2430912" cy="439341"/>
          </a:xfrm>
          <a:prstGeom prst="rect">
            <a:avLst/>
          </a:prstGeom>
          <a:noFill/>
          <a:ln/>
        </p:spPr>
        <p:txBody>
          <a:bodyPr wrap="square" lIns="8509" tIns="170053" rIns="8509" bIns="170053" rtlCol="0" anchor="ctr">
            <a:spAutoFit/>
          </a:bodyPr>
          <a:lstStyle/>
          <a:p>
            <a:pPr algn="l" indent="0" marL="0">
              <a:lnSpc>
                <a:spcPts val="1100"/>
              </a:lnSpc>
              <a:buNone/>
            </a:pPr>
            <a:r>
              <a:rPr lang="en-US" sz="834" b="1" dirty="0">
                <a:solidFill>
                  <a:srgbClr val="D95D39"/>
                </a:solidFill>
                <a:latin typeface="Inter" pitchFamily="34" charset="0"/>
                <a:ea typeface="Inter" pitchFamily="34" charset="-122"/>
                <a:cs typeface="Inter" pitchFamily="34" charset="-120"/>
              </a:rPr>
              <a:t>High (Distributed)</a:t>
            </a:r>
            <a:endParaRPr lang="en-US" sz="834" dirty="0"/>
          </a:p>
        </p:txBody>
      </p:sp>
      <p:sp>
        <p:nvSpPr>
          <p:cNvPr id="27" name="Text 23"/>
          <p:cNvSpPr/>
          <p:nvPr/>
        </p:nvSpPr>
        <p:spPr>
          <a:xfrm>
            <a:off x="571500" y="4546188"/>
            <a:ext cx="8001000" cy="428625"/>
          </a:xfrm>
          <a:prstGeom prst="rect">
            <a:avLst/>
          </a:prstGeom>
          <a:noFill/>
          <a:ln/>
        </p:spPr>
        <p:txBody>
          <a:bodyPr wrap="square" lIns="0" tIns="0" rIns="0" bIns="0" rtlCol="0" anchor="t">
            <a:spAutoFit/>
          </a:bodyPr>
          <a:lstStyle/>
          <a:p>
            <a:pPr algn="l" indent="0" marL="0">
              <a:lnSpc>
                <a:spcPts val="1700"/>
              </a:lnSpc>
              <a:buNone/>
            </a:pPr>
            <a:r>
              <a:rPr lang="en-US" sz="987" b="1" dirty="0">
                <a:solidFill>
                  <a:srgbClr val="1C1917"/>
                </a:solidFill>
                <a:latin typeface="Inter" pitchFamily="34" charset="0"/>
                <a:ea typeface="Inter" pitchFamily="34" charset="-122"/>
                <a:cs typeface="Inter" pitchFamily="34" charset="-120"/>
              </a:rPr>
              <a:t>Key Positioning:</a:t>
            </a:r>
            <a:r>
              <a:rPr lang="en-US" sz="1050" dirty="0">
                <a:solidFill>
                  <a:srgbClr val="1C1917"/>
                </a:solidFill>
                <a:latin typeface="Inter" pitchFamily="34" charset="0"/>
                <a:ea typeface="Inter" pitchFamily="34" charset="-122"/>
                <a:cs typeface="Inter" pitchFamily="34" charset="-120"/>
              </a:rPr>
              <a:t> The proposed solution bridges the gap between high-autonomy server models and low-cost edge </a:t>
            </a:r>
            <a:r>
              <a:rPr lang="en-US" sz="1050" dirty="0">
                <a:solidFill>
                  <a:srgbClr val="1C1917"/>
                </a:solidFill>
                <a:latin typeface="Inter" pitchFamily="34" charset="0"/>
                <a:ea typeface="Inter" pitchFamily="34" charset="-122"/>
                <a:cs typeface="Inter" pitchFamily="34" charset="-120"/>
              </a:rPr>
              <a:t>hardware by combining </a:t>
            </a:r>
            <a:r>
              <a:rPr lang="en-US" sz="987" b="1" dirty="0">
                <a:solidFill>
                  <a:srgbClr val="1C1917"/>
                </a:solidFill>
                <a:latin typeface="Inter" pitchFamily="34" charset="0"/>
                <a:ea typeface="Inter" pitchFamily="34" charset="-122"/>
                <a:cs typeface="Inter" pitchFamily="34" charset="-120"/>
              </a:rPr>
              <a:t>automatic ROI detection</a:t>
            </a:r>
            <a:r>
              <a:rPr lang="en-US" sz="1050" dirty="0">
                <a:solidFill>
                  <a:srgbClr val="1C1917"/>
                </a:solidFill>
                <a:latin typeface="Inter" pitchFamily="34" charset="0"/>
                <a:ea typeface="Inter" pitchFamily="34" charset="-122"/>
                <a:cs typeface="Inter" pitchFamily="34" charset="-120"/>
              </a:rPr>
              <a:t> with a </a:t>
            </a:r>
            <a:r>
              <a:rPr lang="en-US" sz="987" b="1" dirty="0">
                <a:solidFill>
                  <a:srgbClr val="1C1917"/>
                </a:solidFill>
                <a:latin typeface="Inter" pitchFamily="34" charset="0"/>
                <a:ea typeface="Inter" pitchFamily="34" charset="-122"/>
                <a:cs typeface="Inter" pitchFamily="34" charset="-120"/>
              </a:rPr>
              <a:t>distributed socket-based architecture</a:t>
            </a:r>
            <a:r>
              <a:rPr lang="en-US" sz="1050" dirty="0">
                <a:solidFill>
                  <a:srgbClr val="1C1917"/>
                </a:solidFill>
                <a:latin typeface="Inter" pitchFamily="34" charset="0"/>
                <a:ea typeface="Inter" pitchFamily="34" charset="-122"/>
                <a:cs typeface="Inter" pitchFamily="34" charset="-120"/>
              </a:rPr>
              <a: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5D39"/>
                </a:solidFill>
                <a:latin typeface="Inter" pitchFamily="34" charset="0"/>
                <a:ea typeface="Inter" pitchFamily="34" charset="-122"/>
                <a:cs typeface="Inter" pitchFamily="34" charset="-120"/>
              </a:rPr>
              <a:t>EXPERIMENTAL RESULTS</a:t>
            </a:r>
            <a:endParaRPr lang="en-US" sz="683" dirty="0"/>
          </a:p>
        </p:txBody>
      </p:sp>
      <p:sp>
        <p:nvSpPr>
          <p:cNvPr id="5" name="Text 1"/>
          <p:cNvSpPr/>
          <p:nvPr/>
        </p:nvSpPr>
        <p:spPr>
          <a:xfrm>
            <a:off x="571500" y="834675"/>
            <a:ext cx="800100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C1917"/>
                </a:solidFill>
                <a:latin typeface="Source Serif Pro" pitchFamily="34" charset="0"/>
                <a:ea typeface="Source Serif Pro" pitchFamily="34" charset="-122"/>
                <a:cs typeface="Source Serif Pro" pitchFamily="34" charset="-120"/>
              </a:rPr>
              <a:t>End-to-End Results &amp; Error Analysis</a:t>
            </a:r>
            <a:endParaRPr lang="en-US" sz="2436" dirty="0"/>
          </a:p>
        </p:txBody>
      </p:sp>
      <p:sp>
        <p:nvSpPr>
          <p:cNvPr id="6" name="Text 2"/>
          <p:cNvSpPr/>
          <p:nvPr/>
        </p:nvSpPr>
        <p:spPr>
          <a:xfrm>
            <a:off x="571500" y="1447586"/>
            <a:ext cx="3857625" cy="514350"/>
          </a:xfrm>
          <a:prstGeom prst="rect">
            <a:avLst/>
          </a:prstGeom>
          <a:noFill/>
          <a:ln/>
        </p:spPr>
        <p:txBody>
          <a:bodyPr wrap="none" lIns="0" tIns="0" rIns="0" bIns="0" rtlCol="0" anchor="t">
            <a:spAutoFit/>
          </a:bodyPr>
          <a:lstStyle/>
          <a:p>
            <a:pPr algn="l" indent="0" marL="0">
              <a:lnSpc>
                <a:spcPts val="4100"/>
              </a:lnSpc>
              <a:buNone/>
            </a:pPr>
            <a:r>
              <a:rPr lang="en-US" sz="3731" b="1" dirty="0">
                <a:solidFill>
                  <a:srgbClr val="D95D39"/>
                </a:solidFill>
                <a:latin typeface="Source Serif Pro" pitchFamily="34" charset="0"/>
                <a:ea typeface="Source Serif Pro" pitchFamily="34" charset="-122"/>
                <a:cs typeface="Source Serif Pro" pitchFamily="34" charset="-120"/>
              </a:rPr>
              <a:t>72.00%</a:t>
            </a:r>
            <a:endParaRPr lang="en-US" sz="3731" dirty="0"/>
          </a:p>
        </p:txBody>
      </p:sp>
      <p:sp>
        <p:nvSpPr>
          <p:cNvPr id="7" name="Text 3"/>
          <p:cNvSpPr/>
          <p:nvPr/>
        </p:nvSpPr>
        <p:spPr>
          <a:xfrm>
            <a:off x="571500" y="2019086"/>
            <a:ext cx="3857625"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C1917"/>
                </a:solidFill>
                <a:latin typeface="Inter" pitchFamily="34" charset="0"/>
                <a:ea typeface="Inter" pitchFamily="34" charset="-122"/>
                <a:cs typeface="Inter" pitchFamily="34" charset="-120"/>
              </a:rPr>
              <a:t>Exact Full-Reading Match</a:t>
            </a:r>
            <a:endParaRPr lang="en-US" sz="987" dirty="0"/>
          </a:p>
        </p:txBody>
      </p:sp>
      <p:sp>
        <p:nvSpPr>
          <p:cNvPr id="8" name="Text 4"/>
          <p:cNvSpPr/>
          <p:nvPr/>
        </p:nvSpPr>
        <p:spPr>
          <a:xfrm>
            <a:off x="571500" y="2249472"/>
            <a:ext cx="3857625"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Achieved on 50 local test images under varying conditions.</a:t>
            </a:r>
            <a:endParaRPr lang="en-US" sz="942" dirty="0"/>
          </a:p>
        </p:txBody>
      </p:sp>
      <p:sp>
        <p:nvSpPr>
          <p:cNvPr id="9" name="Text 5"/>
          <p:cNvSpPr/>
          <p:nvPr/>
        </p:nvSpPr>
        <p:spPr>
          <a:xfrm>
            <a:off x="571500" y="2583777"/>
            <a:ext cx="3857625" cy="514350"/>
          </a:xfrm>
          <a:prstGeom prst="rect">
            <a:avLst/>
          </a:prstGeom>
          <a:noFill/>
          <a:ln/>
        </p:spPr>
        <p:txBody>
          <a:bodyPr wrap="none" lIns="0" tIns="0" rIns="0" bIns="0" rtlCol="0" anchor="t">
            <a:spAutoFit/>
          </a:bodyPr>
          <a:lstStyle/>
          <a:p>
            <a:pPr algn="l" indent="0" marL="0">
              <a:lnSpc>
                <a:spcPts val="4100"/>
              </a:lnSpc>
              <a:buNone/>
            </a:pPr>
            <a:r>
              <a:rPr lang="en-US" sz="3731" b="1" dirty="0">
                <a:solidFill>
                  <a:srgbClr val="D95D39"/>
                </a:solidFill>
                <a:latin typeface="Source Serif Pro" pitchFamily="34" charset="0"/>
                <a:ea typeface="Source Serif Pro" pitchFamily="34" charset="-122"/>
                <a:cs typeface="Source Serif Pro" pitchFamily="34" charset="-120"/>
              </a:rPr>
              <a:t>76.00%</a:t>
            </a:r>
            <a:endParaRPr lang="en-US" sz="3731" dirty="0"/>
          </a:p>
        </p:txBody>
      </p:sp>
      <p:sp>
        <p:nvSpPr>
          <p:cNvPr id="10" name="Text 6"/>
          <p:cNvSpPr/>
          <p:nvPr/>
        </p:nvSpPr>
        <p:spPr>
          <a:xfrm>
            <a:off x="571500" y="3155277"/>
            <a:ext cx="3857625"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C1917"/>
                </a:solidFill>
                <a:latin typeface="Inter" pitchFamily="34" charset="0"/>
                <a:ea typeface="Inter" pitchFamily="34" charset="-122"/>
                <a:cs typeface="Inter" pitchFamily="34" charset="-120"/>
              </a:rPr>
              <a:t>Correct Text-Length Prediction</a:t>
            </a:r>
            <a:endParaRPr lang="en-US" sz="987" dirty="0"/>
          </a:p>
        </p:txBody>
      </p:sp>
      <p:sp>
        <p:nvSpPr>
          <p:cNvPr id="11" name="Text 7"/>
          <p:cNvSpPr/>
          <p:nvPr/>
        </p:nvSpPr>
        <p:spPr>
          <a:xfrm>
            <a:off x="571500" y="3385663"/>
            <a:ext cx="3857625"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Reflects the system's ability to correctly identify the number of digits present.</a:t>
            </a:r>
            <a:endParaRPr lang="en-US" sz="942" dirty="0"/>
          </a:p>
        </p:txBody>
      </p:sp>
      <p:sp>
        <p:nvSpPr>
          <p:cNvPr id="12" name="Shape 8"/>
          <p:cNvSpPr/>
          <p:nvPr/>
        </p:nvSpPr>
        <p:spPr>
          <a:xfrm>
            <a:off x="4714875" y="1447586"/>
            <a:ext cx="3871913" cy="1728788"/>
          </a:xfrm>
          <a:prstGeom prst="rect">
            <a:avLst/>
          </a:prstGeom>
          <a:solidFill>
            <a:srgbClr val="F9F8F6"/>
          </a:solidFill>
          <a:ln w="9144">
            <a:solidFill>
              <a:srgbClr val="E7E5E4"/>
            </a:solidFill>
            <a:prstDash val="solid"/>
          </a:ln>
        </p:spPr>
      </p:sp>
      <p:sp>
        <p:nvSpPr>
          <p:cNvPr id="13" name="Text 9"/>
          <p:cNvSpPr/>
          <p:nvPr/>
        </p:nvSpPr>
        <p:spPr>
          <a:xfrm>
            <a:off x="5434608" y="2236077"/>
            <a:ext cx="2418159" cy="137517"/>
          </a:xfrm>
          <a:prstGeom prst="rect">
            <a:avLst/>
          </a:prstGeom>
          <a:noFill/>
          <a:ln/>
        </p:spPr>
        <p:txBody>
          <a:bodyPr wrap="none" lIns="0" tIns="0" rIns="0" bIns="0" rtlCol="0" anchor="t">
            <a:spAutoFit/>
          </a:bodyPr>
          <a:lstStyle/>
          <a:p>
            <a:pPr algn="l" indent="0" marL="0">
              <a:lnSpc>
                <a:spcPts val="1100"/>
              </a:lnSpc>
              <a:buNone/>
            </a:pPr>
            <a:r>
              <a:rPr lang="en-US" sz="834" i="1" dirty="0">
                <a:solidFill>
                  <a:srgbClr val="57534E"/>
                </a:solidFill>
                <a:latin typeface="Inter" pitchFamily="34" charset="0"/>
                <a:ea typeface="Inter" pitchFamily="34" charset="-122"/>
                <a:cs typeface="Inter" pitchFamily="34" charset="-120"/>
              </a:rPr>
              <a:t>[Visual: cnn error.jpg - Segmentation Failure]</a:t>
            </a:r>
            <a:endParaRPr lang="en-US" sz="834" dirty="0"/>
          </a:p>
        </p:txBody>
      </p:sp>
      <p:sp>
        <p:nvSpPr>
          <p:cNvPr id="14" name="Text 10"/>
          <p:cNvSpPr/>
          <p:nvPr/>
        </p:nvSpPr>
        <p:spPr>
          <a:xfrm>
            <a:off x="4714875" y="3404974"/>
            <a:ext cx="3857625"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C1917"/>
                </a:solidFill>
                <a:latin typeface="Inter" pitchFamily="34" charset="0"/>
                <a:ea typeface="Inter" pitchFamily="34" charset="-122"/>
                <a:cs typeface="Inter" pitchFamily="34" charset="-120"/>
              </a:rPr>
              <a:t>Segmentation Bottleneck</a:t>
            </a:r>
            <a:endParaRPr lang="en-US" sz="1090" dirty="0"/>
          </a:p>
        </p:txBody>
      </p:sp>
      <p:sp>
        <p:nvSpPr>
          <p:cNvPr id="15" name="Text 11"/>
          <p:cNvSpPr/>
          <p:nvPr/>
        </p:nvSpPr>
        <p:spPr>
          <a:xfrm>
            <a:off x="4714875" y="3708583"/>
            <a:ext cx="3857625" cy="10287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4403C"/>
                </a:solidFill>
                <a:latin typeface="Inter" pitchFamily="34" charset="0"/>
                <a:ea typeface="Inter" pitchFamily="34" charset="-122"/>
                <a:cs typeface="Inter" pitchFamily="34" charset="-120"/>
              </a:rPr>
              <a:t>The primary limitation is deterministic OpenCV under-segmentation. </a:t>
            </a:r>
            <a:r>
              <a:rPr lang="en-US" sz="834" dirty="0">
                <a:solidFill>
                  <a:srgbClr val="44403C"/>
                </a:solidFill>
                <a:latin typeface="Inter" pitchFamily="34" charset="0"/>
                <a:ea typeface="Inter" pitchFamily="34" charset="-122"/>
                <a:cs typeface="Inter" pitchFamily="34" charset="-120"/>
              </a:rPr>
              <a:t>Glare and reflections can erase visible gaps between digits, causing the </a:t>
            </a:r>
            <a:r>
              <a:rPr lang="en-US" sz="834" dirty="0">
                <a:solidFill>
                  <a:srgbClr val="44403C"/>
                </a:solidFill>
                <a:latin typeface="Inter" pitchFamily="34" charset="0"/>
                <a:ea typeface="Inter" pitchFamily="34" charset="-122"/>
                <a:cs typeface="Inter" pitchFamily="34" charset="-120"/>
              </a:rPr>
              <a:t>system to merge them. </a:t>
            </a:r>
            <a:r>
              <a:rPr lang="en-US" sz="834" dirty="0">
                <a:solidFill>
                  <a:srgbClr val="44403C"/>
                </a:solidFill>
                <a:latin typeface="Inter" pitchFamily="34" charset="0"/>
                <a:ea typeface="Inter" pitchFamily="34" charset="-122"/>
                <a:cs typeface="Inter" pitchFamily="34" charset="-120"/>
              </a:rPr>
              <a:t>
</a:t>
            </a:r>
            <a:r>
              <a:rPr lang="en-US" sz="834" dirty="0">
                <a:solidFill>
                  <a:srgbClr val="44403C"/>
                </a:solidFill>
                <a:latin typeface="Inter" pitchFamily="34" charset="0"/>
                <a:ea typeface="Inter" pitchFamily="34" charset="-122"/>
                <a:cs typeface="Inter" pitchFamily="34" charset="-120"/>
              </a:rPr>
              <a:t> </a:t>
            </a:r>
            <a:r>
              <a:rPr lang="en-US" sz="834" dirty="0">
                <a:solidFill>
                  <a:srgbClr val="44403C"/>
                </a:solidFill>
                <a:latin typeface="Inter" pitchFamily="34" charset="0"/>
                <a:ea typeface="Inter" pitchFamily="34" charset="-122"/>
                <a:cs typeface="Inter" pitchFamily="34" charset="-120"/>
              </a:rPr>
              <a:t>Example:</a:t>
            </a:r>
            <a:r>
              <a:rPr lang="en-US" sz="834" dirty="0">
                <a:solidFill>
                  <a:srgbClr val="44403C"/>
                </a:solidFill>
                <a:latin typeface="Inter" pitchFamily="34" charset="0"/>
                <a:ea typeface="Inter" pitchFamily="34" charset="-122"/>
                <a:cs typeface="Inter" pitchFamily="34" charset="-120"/>
              </a:rPr>
              <a:t> A real reading of "21931" was incorrectly reconstructed as </a:t>
            </a:r>
            <a:r>
              <a:rPr lang="en-US" sz="834" dirty="0">
                <a:solidFill>
                  <a:srgbClr val="44403C"/>
                </a:solidFill>
                <a:latin typeface="Inter" pitchFamily="34" charset="0"/>
                <a:ea typeface="Inter" pitchFamily="34" charset="-122"/>
                <a:cs typeface="Inter" pitchFamily="34" charset="-120"/>
              </a:rPr>
              <a:t>"43" due to reflection-induced merging.</a:t>
            </a:r>
            <a:endParaRPr lang="en-US" sz="83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713231"/>
            <a:ext cx="800100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C1917"/>
                </a:solidFill>
                <a:latin typeface="Source Serif Pro" pitchFamily="34" charset="0"/>
                <a:ea typeface="Source Serif Pro" pitchFamily="34" charset="-122"/>
                <a:cs typeface="Source Serif Pro" pitchFamily="34" charset="-120"/>
              </a:rPr>
              <a:t>Conclusion &amp; Future Work</a:t>
            </a:r>
            <a:endParaRPr lang="en-US" sz="2436" dirty="0"/>
          </a:p>
        </p:txBody>
      </p:sp>
      <p:sp>
        <p:nvSpPr>
          <p:cNvPr id="5" name="Text 1"/>
          <p:cNvSpPr/>
          <p:nvPr/>
        </p:nvSpPr>
        <p:spPr>
          <a:xfrm>
            <a:off x="571500" y="1526167"/>
            <a:ext cx="37147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5D39"/>
                </a:solidFill>
                <a:latin typeface="Inter" pitchFamily="34" charset="0"/>
                <a:ea typeface="Inter" pitchFamily="34" charset="-122"/>
                <a:cs typeface="Inter" pitchFamily="34" charset="-120"/>
              </a:rPr>
              <a:t>KEY ACHIEVEMENTS</a:t>
            </a:r>
            <a:endParaRPr lang="en-US" sz="683" dirty="0"/>
          </a:p>
        </p:txBody>
      </p:sp>
      <p:sp>
        <p:nvSpPr>
          <p:cNvPr id="6" name="Text 2"/>
          <p:cNvSpPr/>
          <p:nvPr/>
        </p:nvSpPr>
        <p:spPr>
          <a:xfrm>
            <a:off x="571500" y="1819061"/>
            <a:ext cx="371475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Bottleneck Removal</a:t>
            </a:r>
            <a:endParaRPr lang="en-US" sz="1193" dirty="0"/>
          </a:p>
        </p:txBody>
      </p:sp>
      <p:sp>
        <p:nvSpPr>
          <p:cNvPr id="7" name="Text 3"/>
          <p:cNvSpPr/>
          <p:nvPr/>
        </p:nvSpPr>
        <p:spPr>
          <a:xfrm>
            <a:off x="571500" y="2154817"/>
            <a:ext cx="37147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Successfully eliminated manual ROI configuration, enabling fully autonomous deployment for AMR systems.</a:t>
            </a:r>
            <a:endParaRPr lang="en-US" sz="942" dirty="0"/>
          </a:p>
        </p:txBody>
      </p:sp>
      <p:sp>
        <p:nvSpPr>
          <p:cNvPr id="8" name="Text 4"/>
          <p:cNvSpPr/>
          <p:nvPr/>
        </p:nvSpPr>
        <p:spPr>
          <a:xfrm>
            <a:off x="571500" y="2794853"/>
            <a:ext cx="371475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High-Fidelity Components</a:t>
            </a:r>
            <a:endParaRPr lang="en-US" sz="1193" dirty="0"/>
          </a:p>
        </p:txBody>
      </p:sp>
      <p:sp>
        <p:nvSpPr>
          <p:cNvPr id="9" name="Text 5"/>
          <p:cNvSpPr/>
          <p:nvPr/>
        </p:nvSpPr>
        <p:spPr>
          <a:xfrm>
            <a:off x="571500" y="3130609"/>
            <a:ext cx="37147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Demonstrated 100% ROI detection success and 99.00% digit classification accuracy on hold-out test sets.</a:t>
            </a:r>
            <a:endParaRPr lang="en-US" sz="942" dirty="0"/>
          </a:p>
        </p:txBody>
      </p:sp>
      <p:sp>
        <p:nvSpPr>
          <p:cNvPr id="10" name="Text 6"/>
          <p:cNvSpPr/>
          <p:nvPr/>
        </p:nvSpPr>
        <p:spPr>
          <a:xfrm>
            <a:off x="571500" y="3770644"/>
            <a:ext cx="371475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Practical Architecture</a:t>
            </a:r>
            <a:endParaRPr lang="en-US" sz="1193" dirty="0"/>
          </a:p>
        </p:txBody>
      </p:sp>
      <p:sp>
        <p:nvSpPr>
          <p:cNvPr id="11" name="Text 7"/>
          <p:cNvSpPr/>
          <p:nvPr/>
        </p:nvSpPr>
        <p:spPr>
          <a:xfrm>
            <a:off x="571500" y="4106401"/>
            <a:ext cx="37147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The distributed socket-based design provides a scalable path for industrial utility monitoring.</a:t>
            </a:r>
            <a:endParaRPr lang="en-US" sz="942" dirty="0"/>
          </a:p>
        </p:txBody>
      </p:sp>
      <p:sp>
        <p:nvSpPr>
          <p:cNvPr id="12" name="Text 8"/>
          <p:cNvSpPr/>
          <p:nvPr/>
        </p:nvSpPr>
        <p:spPr>
          <a:xfrm>
            <a:off x="4857750" y="1526167"/>
            <a:ext cx="37147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D95D39"/>
                </a:solidFill>
                <a:latin typeface="Inter" pitchFamily="34" charset="0"/>
                <a:ea typeface="Inter" pitchFamily="34" charset="-122"/>
                <a:cs typeface="Inter" pitchFamily="34" charset="-120"/>
              </a:rPr>
              <a:t>FUTURE DIRECTIONS</a:t>
            </a:r>
            <a:endParaRPr lang="en-US" sz="683" dirty="0"/>
          </a:p>
        </p:txBody>
      </p:sp>
      <p:sp>
        <p:nvSpPr>
          <p:cNvPr id="13" name="Text 9"/>
          <p:cNvSpPr/>
          <p:nvPr/>
        </p:nvSpPr>
        <p:spPr>
          <a:xfrm>
            <a:off x="4857750" y="1819061"/>
            <a:ext cx="371475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Robust Segmentation</a:t>
            </a:r>
            <a:endParaRPr lang="en-US" sz="1193" dirty="0"/>
          </a:p>
        </p:txBody>
      </p:sp>
      <p:sp>
        <p:nvSpPr>
          <p:cNvPr id="14" name="Text 10"/>
          <p:cNvSpPr/>
          <p:nvPr/>
        </p:nvSpPr>
        <p:spPr>
          <a:xfrm>
            <a:off x="4857750" y="2154817"/>
            <a:ext cx="37147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Moving from deterministic OpenCV methods to deep-learning-based segmentation to handle glare and reflections.</a:t>
            </a:r>
            <a:endParaRPr lang="en-US" sz="942" dirty="0"/>
          </a:p>
        </p:txBody>
      </p:sp>
      <p:sp>
        <p:nvSpPr>
          <p:cNvPr id="15" name="Text 11"/>
          <p:cNvSpPr/>
          <p:nvPr/>
        </p:nvSpPr>
        <p:spPr>
          <a:xfrm>
            <a:off x="4857750" y="2794853"/>
            <a:ext cx="371475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C1917"/>
                </a:solidFill>
                <a:latin typeface="Inter" pitchFamily="34" charset="0"/>
                <a:ea typeface="Inter" pitchFamily="34" charset="-122"/>
                <a:cs typeface="Inter" pitchFamily="34" charset="-120"/>
              </a:rPr>
              <a:t>End-to-End OCR</a:t>
            </a:r>
            <a:endParaRPr lang="en-US" sz="1193" dirty="0"/>
          </a:p>
        </p:txBody>
      </p:sp>
      <p:sp>
        <p:nvSpPr>
          <p:cNvPr id="16" name="Text 12"/>
          <p:cNvSpPr/>
          <p:nvPr/>
        </p:nvSpPr>
        <p:spPr>
          <a:xfrm>
            <a:off x="4857750" y="3130609"/>
            <a:ext cx="3714750"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4403C"/>
                </a:solidFill>
                <a:latin typeface="Inter" pitchFamily="34" charset="0"/>
                <a:ea typeface="Inter" pitchFamily="34" charset="-122"/>
                <a:cs typeface="Inter" pitchFamily="34" charset="-120"/>
              </a:rPr>
              <a:t>Transitioning toward sequence-based recognition models (e.g., CRNN) to eliminate the need for explicit digit segmentation.</a:t>
            </a:r>
            <a:endParaRPr lang="en-US" sz="942" dirty="0"/>
          </a:p>
        </p:txBody>
      </p:sp>
      <p:sp>
        <p:nvSpPr>
          <p:cNvPr id="17" name="Shape 13"/>
          <p:cNvSpPr/>
          <p:nvPr/>
        </p:nvSpPr>
        <p:spPr>
          <a:xfrm>
            <a:off x="4857750" y="3976362"/>
            <a:ext cx="3714750" cy="1060066"/>
          </a:xfrm>
          <a:prstGeom prst="rect">
            <a:avLst/>
          </a:prstGeom>
          <a:solidFill>
            <a:srgbClr val="F9F8F6"/>
          </a:solidFill>
          <a:ln w="9144">
            <a:solidFill>
              <a:srgbClr val="E7E5E4"/>
            </a:solidFill>
            <a:prstDash val="solid"/>
          </a:ln>
        </p:spPr>
      </p:sp>
      <p:sp>
        <p:nvSpPr>
          <p:cNvPr id="18" name="Text 14"/>
          <p:cNvSpPr/>
          <p:nvPr/>
        </p:nvSpPr>
        <p:spPr>
          <a:xfrm>
            <a:off x="5029200" y="4276399"/>
            <a:ext cx="3371850"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1C1917"/>
                </a:solidFill>
                <a:latin typeface="Inter" pitchFamily="34" charset="0"/>
                <a:ea typeface="Inter" pitchFamily="34" charset="-122"/>
                <a:cs typeface="Inter" pitchFamily="34" charset="-120"/>
              </a:rPr>
              <a:t>The proposed system bridges the gap between high-autonomy server models and low-cost edge hardware, offering a viable industrial solution.</a:t>
            </a:r>
            <a:endParaRPr lang="en-US" sz="94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060079" y="1820010"/>
            <a:ext cx="5023842" cy="565779"/>
          </a:xfrm>
          <a:prstGeom prst="rect">
            <a:avLst/>
          </a:prstGeom>
          <a:noFill/>
          <a:ln/>
        </p:spPr>
        <p:txBody>
          <a:bodyPr wrap="none" lIns="0" tIns="0" rIns="0" bIns="0" rtlCol="0" anchor="t">
            <a:spAutoFit/>
          </a:bodyPr>
          <a:lstStyle/>
          <a:p>
            <a:pPr algn="ctr" indent="0" marL="0">
              <a:lnSpc>
                <a:spcPts val="4500"/>
              </a:lnSpc>
              <a:buNone/>
            </a:pPr>
            <a:r>
              <a:rPr lang="en-US" sz="3731" b="1" dirty="0">
                <a:solidFill>
                  <a:srgbClr val="1C1917"/>
                </a:solidFill>
                <a:latin typeface="Source Serif Pro" pitchFamily="34" charset="0"/>
                <a:ea typeface="Source Serif Pro" pitchFamily="34" charset="-122"/>
                <a:cs typeface="Source Serif Pro" pitchFamily="34" charset="-120"/>
              </a:rPr>
              <a:t>Questions &amp; Answers</a:t>
            </a:r>
            <a:endParaRPr lang="en-US" sz="3731" dirty="0"/>
          </a:p>
        </p:txBody>
      </p:sp>
      <p:sp>
        <p:nvSpPr>
          <p:cNvPr id="5" name="Text 1"/>
          <p:cNvSpPr/>
          <p:nvPr/>
        </p:nvSpPr>
        <p:spPr>
          <a:xfrm>
            <a:off x="2554784" y="3021583"/>
            <a:ext cx="4034433" cy="276820"/>
          </a:xfrm>
          <a:prstGeom prst="rect">
            <a:avLst/>
          </a:prstGeom>
          <a:noFill/>
          <a:ln/>
        </p:spPr>
        <p:txBody>
          <a:bodyPr wrap="none" lIns="0" tIns="0" rIns="0" bIns="0" rtlCol="0" anchor="t">
            <a:spAutoFit/>
          </a:bodyPr>
          <a:lstStyle/>
          <a:p>
            <a:pPr algn="ctr" indent="0" marL="0">
              <a:lnSpc>
                <a:spcPts val="2200"/>
              </a:lnSpc>
              <a:buNone/>
            </a:pPr>
            <a:r>
              <a:rPr lang="en-US" sz="1704" dirty="0">
                <a:solidFill>
                  <a:srgbClr val="44403C"/>
                </a:solidFill>
                <a:latin typeface="Inter" pitchFamily="34" charset="0"/>
                <a:ea typeface="Inter" pitchFamily="34" charset="-122"/>
                <a:cs typeface="Inter" pitchFamily="34" charset="-120"/>
              </a:rPr>
              <a:t>Thank you for your time and attention.</a:t>
            </a:r>
            <a:endParaRPr lang="en-US" sz="1704" dirty="0"/>
          </a:p>
        </p:txBody>
      </p:sp>
      <p:sp>
        <p:nvSpPr>
          <p:cNvPr id="6" name="Text 2"/>
          <p:cNvSpPr/>
          <p:nvPr/>
        </p:nvSpPr>
        <p:spPr>
          <a:xfrm>
            <a:off x="2935188" y="3698453"/>
            <a:ext cx="3273623" cy="155377"/>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57534E"/>
                </a:solidFill>
                <a:latin typeface="Inter" pitchFamily="34" charset="0"/>
                <a:ea typeface="Inter" pitchFamily="34" charset="-122"/>
                <a:cs typeface="Inter" pitchFamily="34" charset="-120"/>
              </a:rPr>
              <a:t>Master in Business Intelligence and Big Data Analytics</a:t>
            </a:r>
            <a:endParaRPr lang="en-US" sz="94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2026-04-09T17:53:43Z</dcterms:created>
  <dcterms:modified xsi:type="dcterms:W3CDTF">2026-04-09T17:53:43Z</dcterms:modified>
</cp:coreProperties>
</file>